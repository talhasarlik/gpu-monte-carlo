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" userDrawn="1">
          <p15:clr>
            <a:srgbClr val="A4A3A4"/>
          </p15:clr>
        </p15:guide>
        <p15:guide id="2" pos="9536" userDrawn="1">
          <p15:clr>
            <a:srgbClr val="A4A3A4"/>
          </p15:clr>
        </p15:guide>
        <p15:guide id="3" pos="18922" userDrawn="1">
          <p15:clr>
            <a:srgbClr val="A4A3A4"/>
          </p15:clr>
        </p15:guide>
        <p15:guide id="4" pos="149" userDrawn="1">
          <p15:clr>
            <a:srgbClr val="A4A3A4"/>
          </p15:clr>
        </p15:guide>
        <p15:guide id="5" orient="horz" pos="2682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dia Howes" initials="LH" lastIdx="1" clrIdx="0">
    <p:extLst>
      <p:ext uri="{19B8F6BF-5375-455C-9EA6-DF929625EA0E}">
        <p15:presenceInfo xmlns:p15="http://schemas.microsoft.com/office/powerpoint/2012/main" userId="S-1-5-21-3267252026-959778862-486524141-93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106" autoAdjust="0"/>
    <p:restoredTop sz="96433" autoAdjust="0"/>
  </p:normalViewPr>
  <p:slideViewPr>
    <p:cSldViewPr snapToGrid="0" showGuides="1">
      <p:cViewPr varScale="1">
        <p:scale>
          <a:sx n="17" d="100"/>
          <a:sy n="17" d="100"/>
        </p:scale>
        <p:origin x="3810" y="120"/>
      </p:cViewPr>
      <p:guideLst>
        <p:guide orient="horz" pos="111"/>
        <p:guide pos="9536"/>
        <p:guide pos="18922"/>
        <p:guide pos="149"/>
        <p:guide orient="horz" pos="268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4T17:49:47.629" idx="1">
    <p:pos x="-2" y="-8"/>
    <p:text>The Library does not have the ability for edge-to-edge printing, so leave room for margins! The template has guides in place to help. To turn guides on or off, go to View--&gt;Show--&gt; check/uncheck guides.</p:text>
    <p:extLst>
      <p:ext uri="{C676402C-5697-4E1C-873F-D02D1690AC5C}">
        <p15:threadingInfo xmlns:p15="http://schemas.microsoft.com/office/powerpoint/2012/main" timeZoneBias="360"/>
      </p:ext>
    </p:extLst>
  </p:cm>
</p:cmLst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C6F1A-1039-4C54-9CFF-5DE3C97F7A8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A66B9-DB0A-49EB-B2C8-69ADD5BB5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0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81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561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842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9124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405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686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966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8247" algn="l" defTabSz="9145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3707151">
              <a:defRPr/>
            </a:pPr>
            <a:r>
              <a:rPr lang="en-US" baseline="0" dirty="0"/>
              <a:t>Prints as 33.1 x 46.8 (A0) at 100%. When printed using the library printing service, this will require trimming from 36 inch wide paper. To fill 36 inch paper roll, scale to 108.5% (prints as ~ 36 X 51).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A66B9-DB0A-49EB-B2C8-69ADD5BB59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563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2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7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48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9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5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6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7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8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3898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95314-68FD-4919-B69A-04FEC013801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omments" Target="../comments/comment1.xml"/><Relationship Id="rId10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457200"/>
            <a:ext cx="28446412" cy="2697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640080"/>
            <a:ext cx="22960012" cy="1417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300" b="1" i="0">
                <a:solidFill>
                  <a:srgbClr val="FFFFFF"/>
                </a:solidFill>
                <a:latin typeface="Calibri Light"/>
              </a:rPr>
              <a:t>GPU-Accelerated Monte Carlo Simulation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300" b="1" i="0">
                <a:solidFill>
                  <a:srgbClr val="FFFFFF"/>
                </a:solidFill>
                <a:latin typeface="Calibri Light"/>
              </a:rPr>
              <a:t>for European Option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304288"/>
            <a:ext cx="22960012" cy="82586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0" i="0" dirty="0">
                <a:solidFill>
                  <a:srgbClr val="FFFFFF"/>
                </a:solidFill>
                <a:latin typeface="Calibri"/>
              </a:rPr>
              <a:t xml:space="preserve">Talha </a:t>
            </a:r>
            <a:r>
              <a:rPr sz="2600" b="0" i="0" dirty="0" err="1">
                <a:solidFill>
                  <a:srgbClr val="FFFFFF"/>
                </a:solidFill>
                <a:latin typeface="Calibri"/>
              </a:rPr>
              <a:t>Sarlık</a:t>
            </a:r>
            <a:r>
              <a:rPr sz="2600" b="0" i="0" dirty="0">
                <a:solidFill>
                  <a:srgbClr val="FFFFFF"/>
                </a:solidFill>
                <a:latin typeface="Calibri"/>
              </a:rPr>
              <a:t xml:space="preserve"> (704241052)  ·  Mehmet Bedirhan Önder (704251026)  ·  </a:t>
            </a:r>
            <a:r>
              <a:rPr lang="en-US" sz="2600" b="0" i="0" dirty="0">
                <a:solidFill>
                  <a:srgbClr val="FFFFFF"/>
                </a:solidFill>
                <a:latin typeface="Calibri"/>
              </a:rPr>
              <a:t>I</a:t>
            </a:r>
            <a:r>
              <a:rPr sz="2600" b="0" i="0" dirty="0">
                <a:solidFill>
                  <a:srgbClr val="FFFFFF"/>
                </a:solidFill>
                <a:latin typeface="Calibri"/>
              </a:rPr>
              <a:t>stanbul Technical University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0" i="0" dirty="0">
                <a:solidFill>
                  <a:srgbClr val="FFFFFF"/>
                </a:solidFill>
                <a:latin typeface="Calibri"/>
              </a:rPr>
              <a:t>BLG 562E — Parallel Computing for GPUs Using CUDA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845820"/>
            <a:ext cx="3209544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T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28700"/>
            <a:ext cx="2752344" cy="1554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548937" y="3365433"/>
            <a:ext cx="18811875" cy="100584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THE THREE KERNELS — WHERE THEY DIFFER</a:t>
            </a:r>
          </a:p>
        </p:txBody>
      </p:sp>
      <p:pic>
        <p:nvPicPr>
          <p:cNvPr id="8" name="Picture 7" descr="kernel_architecture.png"/>
          <p:cNvPicPr>
            <a:picLocks noChangeAspect="1"/>
          </p:cNvPicPr>
          <p:nvPr/>
        </p:nvPicPr>
        <p:blipFill>
          <a:blip r:embed="rId4"/>
          <a:srcRect t="13590"/>
          <a:stretch>
            <a:fillRect/>
          </a:stretch>
        </p:blipFill>
        <p:spPr>
          <a:xfrm>
            <a:off x="10841545" y="4416934"/>
            <a:ext cx="18365715" cy="753088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14400" y="3401568"/>
            <a:ext cx="9177338" cy="93783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PROJECT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498849"/>
            <a:ext cx="9177338" cy="8238357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8" y="4770542"/>
            <a:ext cx="8595360" cy="53000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spcBef>
                <a:spcPts val="200"/>
              </a:spcBef>
              <a:spcAft>
                <a:spcPts val="900"/>
              </a:spcAft>
            </a:pPr>
            <a:r>
              <a:rPr lang="en-US" sz="2800" dirty="0"/>
              <a:t>Monte Carlo pricing averages the discounted payoff over many simulated price paths — flexible and accurate, but expensive: the error shrinks only as 1/√N.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Target:</a:t>
            </a:r>
            <a:r>
              <a:rPr lang="en-US" sz="2800" dirty="0"/>
              <a:t xml:space="preserve"> European call/put under Black–Scholes; the closed-form price 10.4506 is our exact ground truth.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Build:</a:t>
            </a:r>
            <a:r>
              <a:rPr lang="en-US" sz="2800" dirty="0"/>
              <a:t xml:space="preserve"> single-thread CPU baseline, then three CUDA kernels — naive, shared-memory reduction, antithetic variates — unified by a grid-stride refactor.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Honest numbers:</a:t>
            </a:r>
            <a:r>
              <a:rPr lang="en-US" sz="2800" dirty="0"/>
              <a:t xml:space="preserve"> median of 5 runs, end-to-end timings (RNG init + kernel), every run validated.</a:t>
            </a:r>
          </a:p>
        </p:txBody>
      </p:sp>
      <p:sp>
        <p:nvSpPr>
          <p:cNvPr id="101" name="StripIntro"/>
          <p:cNvSpPr txBox="1"/>
          <p:nvPr/>
        </p:nvSpPr>
        <p:spPr>
          <a:xfrm>
            <a:off x="1207008" y="9620000"/>
            <a:ext cx="8595360" cy="3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700" b="0" i="1" dirty="0">
                <a:solidFill>
                  <a:srgbClr val="555555"/>
                </a:solidFill>
                <a:latin typeface="Calibri"/>
              </a:rPr>
              <a:t>Three independent kernels — benchmarked separately, one lesson each:</a:t>
            </a:r>
          </a:p>
        </p:txBody>
      </p:sp>
      <p:sp>
        <p:nvSpPr>
          <p:cNvPr id="102" name="KernelCard 2"/>
          <p:cNvSpPr/>
          <p:nvPr/>
        </p:nvSpPr>
        <p:spPr>
          <a:xfrm>
            <a:off x="1207008" y="10030000"/>
            <a:ext cx="2700000" cy="108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28575">
            <a:solidFill>
              <a:srgbClr val="ED7D31"/>
            </a:solidFill>
          </a:ln>
        </p:spPr>
        <p:txBody>
          <a:bodyPr wrap="square" lIns="9000" tIns="14400" rIns="9000" bIns="14400" rtlCol="0" anchor="ctr"/>
          <a:lstStyle/>
          <a:p>
            <a:pPr algn="ctr"/>
            <a:r>
              <a:rPr lang="en-US" sz="1700" b="1" dirty="0">
                <a:solidFill>
                  <a:srgbClr val="C55A11"/>
                </a:solidFill>
                <a:latin typeface="Consolas"/>
              </a:rPr>
              <a:t>1 · mc_naive</a:t>
            </a:r>
          </a:p>
          <a:p>
            <a:pPr algn="ctr"/>
            <a:r>
              <a:rPr lang="en-US" sz="2000" b="1" dirty="0">
                <a:solidFill>
                  <a:srgbClr val="202020"/>
                </a:solidFill>
                <a:latin typeface="Calibri"/>
              </a:rPr>
              <a:t>2.8% SM</a:t>
            </a:r>
          </a:p>
        </p:txBody>
      </p:sp>
      <p:sp>
        <p:nvSpPr>
          <p:cNvPr id="103" name="KernelCard 3"/>
          <p:cNvSpPr/>
          <p:nvPr/>
        </p:nvSpPr>
        <p:spPr>
          <a:xfrm>
            <a:off x="4154688" y="10030000"/>
            <a:ext cx="2700000" cy="108000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28575">
            <a:solidFill>
              <a:srgbClr val="2E75B6"/>
            </a:solidFill>
          </a:ln>
        </p:spPr>
        <p:txBody>
          <a:bodyPr wrap="square" lIns="9000" tIns="14400" rIns="9000" bIns="14400" rtlCol="0" anchor="ctr"/>
          <a:lstStyle/>
          <a:p>
            <a:pPr algn="ctr"/>
            <a:r>
              <a:rPr lang="en-US" sz="1700" b="1" dirty="0">
                <a:solidFill>
                  <a:srgbClr val="1F5597"/>
                </a:solidFill>
                <a:latin typeface="Consolas"/>
              </a:rPr>
              <a:t>2 · mc_shared</a:t>
            </a:r>
          </a:p>
          <a:p>
            <a:pPr algn="ctr"/>
            <a:r>
              <a:rPr lang="en-US" sz="2000" b="1" dirty="0">
                <a:solidFill>
                  <a:srgbClr val="202020"/>
                </a:solidFill>
                <a:latin typeface="Calibri"/>
              </a:rPr>
              <a:t>79% SM</a:t>
            </a:r>
          </a:p>
        </p:txBody>
      </p:sp>
      <p:sp>
        <p:nvSpPr>
          <p:cNvPr id="104" name="KernelCard 4"/>
          <p:cNvSpPr/>
          <p:nvPr/>
        </p:nvSpPr>
        <p:spPr>
          <a:xfrm>
            <a:off x="7102368" y="10030000"/>
            <a:ext cx="2700000" cy="1080000"/>
          </a:xfrm>
          <a:prstGeom prst="roundRect">
            <a:avLst>
              <a:gd name="adj" fmla="val 12000"/>
            </a:avLst>
          </a:prstGeom>
          <a:solidFill>
            <a:srgbClr val="E2F0E9"/>
          </a:solidFill>
          <a:ln w="28575">
            <a:solidFill>
              <a:srgbClr val="2F8F5B"/>
            </a:solidFill>
          </a:ln>
        </p:spPr>
        <p:txBody>
          <a:bodyPr wrap="square" lIns="9000" tIns="14400" rIns="9000" bIns="14400" rtlCol="0" anchor="ctr"/>
          <a:lstStyle/>
          <a:p>
            <a:pPr algn="ctr"/>
            <a:r>
              <a:rPr lang="en-US" sz="1700" b="1" dirty="0">
                <a:solidFill>
                  <a:srgbClr val="207050"/>
                </a:solidFill>
                <a:latin typeface="Consolas"/>
              </a:rPr>
              <a:t>3 · mc_antithetic</a:t>
            </a:r>
          </a:p>
          <a:p>
            <a:pPr algn="ctr"/>
            <a:r>
              <a:rPr lang="en-US" sz="2000" b="1" dirty="0">
                <a:solidFill>
                  <a:srgbClr val="202020"/>
                </a:solidFill>
                <a:latin typeface="Calibri"/>
              </a:rPr>
              <a:t>½ variance</a:t>
            </a:r>
          </a:p>
        </p:txBody>
      </p:sp>
      <p:sp>
        <p:nvSpPr>
          <p:cNvPr id="105" name="GridStrideBand"/>
          <p:cNvSpPr/>
          <p:nvPr/>
        </p:nvSpPr>
        <p:spPr>
          <a:xfrm>
            <a:off x="1207008" y="11250000"/>
            <a:ext cx="8595360" cy="600000"/>
          </a:xfrm>
          <a:prstGeom prst="roundRect">
            <a:avLst>
              <a:gd name="adj" fmla="val 22000"/>
            </a:avLst>
          </a:prstGeom>
          <a:solidFill>
            <a:srgbClr val="D9DEE8"/>
          </a:solidFill>
          <a:ln w="28575">
            <a:solidFill>
              <a:srgbClr val="44546A"/>
            </a:solidFill>
          </a:ln>
        </p:spPr>
        <p:txBody>
          <a:bodyPr wrap="square" lIns="36000" tIns="9000" rIns="36000" bIns="9000" rtlCol="0" anchor="ctr"/>
          <a:lstStyle/>
          <a:p>
            <a:pPr algn="ctr"/>
            <a:r>
              <a:rPr lang="en-US" sz="1800" b="1" dirty="0">
                <a:solidFill>
                  <a:srgbClr val="44546A"/>
                </a:solidFill>
                <a:latin typeface="Arial"/>
              </a:rPr>
              <a:t>4 · GRID-STRIDE REFACTOR</a:t>
            </a:r>
            <a:r>
              <a:rPr lang="en-US" sz="1800" b="0" dirty="0">
                <a:solidFill>
                  <a:srgbClr val="202020"/>
                </a:solidFill>
                <a:latin typeface="Calibri"/>
              </a:rPr>
              <a:t xml:space="preserve">  —  applied to all three  ·  RNG init 65× ↓</a:t>
            </a:r>
          </a:p>
        </p:txBody>
      </p:sp>
      <p:sp>
        <p:nvSpPr>
          <p:cNvPr id="106" name="StoryPunchline"/>
          <p:cNvSpPr txBox="1"/>
          <p:nvPr/>
        </p:nvSpPr>
        <p:spPr>
          <a:xfrm>
            <a:off x="1207008" y="11960000"/>
            <a:ext cx="8595360" cy="4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200" b="1" dirty="0">
                <a:solidFill>
                  <a:srgbClr val="44546A"/>
                </a:solidFill>
                <a:latin typeface="Arial"/>
              </a:rPr>
              <a:t>Best (antithetic):  382× end-to-end at N = 10⁷   ·   980× at 5×10⁷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399" y="13332723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 · mc_naive — one thread per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399" y="14430002"/>
            <a:ext cx="9177338" cy="5945857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07007" y="14726779"/>
            <a:ext cx="8595360" cy="5601533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One thread = one full path:</a:t>
            </a:r>
            <a:r>
              <a:rPr lang="en-US" sz="2800" dirty="0"/>
              <a:t xml:space="preserve"> own cuRAND state, one exact GBM step to expiry, payoff at the end.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The catch:</a:t>
            </a:r>
            <a:r>
              <a:rPr lang="en-US" sz="2800" dirty="0"/>
              <a:t xml:space="preserve"> every path updates the same two global values with atomicAdd — the writes serialize in L2.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Profiler verdict:</a:t>
            </a:r>
            <a:r>
              <a:rPr lang="en-US" sz="2800" dirty="0"/>
              <a:t xml:space="preserve"> 94% occupancy, yet SM throughput is only 2.8% — cores sit idle ~97% of the time.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dirty="0"/>
              <a:t>•  Intentionally simple baseline — the next two kernels fix exactly this.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3755" y="20664221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 · mc_shared — block reduction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3755" y="21761500"/>
            <a:ext cx="9177338" cy="10904483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06363" y="22058277"/>
            <a:ext cx="8595360" cy="473975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Same simulation, smarter sum:</a:t>
            </a:r>
            <a:r>
              <a:rPr lang="en-US" sz="2800" dirty="0"/>
              <a:t xml:space="preserve"> each thread accumulates payoffs in a private register.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Reduction:</a:t>
            </a:r>
            <a:r>
              <a:rPr lang="en-US" sz="2800" dirty="0"/>
              <a:t xml:space="preserve"> warp shuffle → shared-memory tree → one atomicAdd per block (below).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Payoff:</a:t>
            </a:r>
            <a:r>
              <a:rPr lang="en-US" sz="2800" dirty="0"/>
              <a:t xml:space="preserve"> global atomics fall from ~2·N to ~128, independent of N — L2 bottleneck gone; SM throughput 2.8% → 79%.</a:t>
            </a:r>
          </a:p>
        </p:txBody>
      </p:sp>
      <p:pic>
        <p:nvPicPr>
          <p:cNvPr id="26" name="Picture 25" descr="reduction_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744" y="25450000"/>
            <a:ext cx="8595360" cy="623214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913755" y="32985464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3 · mc_antithetic — variance reduction (±Z)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3755" y="34082743"/>
            <a:ext cx="9177338" cy="6718124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09601" y="34354438"/>
            <a:ext cx="8595360" cy="517064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The trick:</a:t>
            </a:r>
            <a:r>
              <a:rPr lang="en-US" sz="2800" dirty="0"/>
              <a:t xml:space="preserve"> on top of mc_shared, pair every draw Z with its mirror −Z and average the two payoffs into one sample.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Why it works:</a:t>
            </a:r>
            <a:r>
              <a:rPr lang="en-US" sz="2800" dirty="0"/>
              <a:t xml:space="preserve"> the pair is negatively correlated, so noise cancels — ~½ the variance ≈ the accuracy of 2× the paths.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lang="en-US" sz="2800" b="1" dirty="0"/>
              <a:t>•  The cost:</a:t>
            </a:r>
            <a:r>
              <a:rPr lang="en-US" sz="2800" dirty="0"/>
              <a:t xml:space="preserve"> one extra exp() per pair — and one RNG-state read per pair makes each effective sample cheaper than in mc_shared.</a:t>
            </a:r>
          </a:p>
        </p:txBody>
      </p:sp>
      <p:sp>
        <p:nvSpPr>
          <p:cNvPr id="109" name="FormulaChip"/>
          <p:cNvSpPr/>
          <p:nvPr/>
        </p:nvSpPr>
        <p:spPr>
          <a:xfrm>
            <a:off x="2702424" y="39150000"/>
            <a:ext cx="5600000" cy="1080000"/>
          </a:xfrm>
          <a:prstGeom prst="roundRect">
            <a:avLst>
              <a:gd name="adj" fmla="val 18000"/>
            </a:avLst>
          </a:prstGeom>
          <a:solidFill>
            <a:srgbClr val="E2F0E9"/>
          </a:solidFill>
          <a:ln w="28575">
            <a:solidFill>
              <a:srgbClr val="2F8F5B"/>
            </a:solidFill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en-US" sz="2800" b="1" dirty="0">
                <a:solidFill>
                  <a:srgbClr val="1E5C40"/>
                </a:solidFill>
                <a:latin typeface="Consolas"/>
              </a:rPr>
              <a:t>ĝ  =  ½ [ g(+Z) + g(−Z)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42716" y="12470470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500" b="1">
                <a:solidFill>
                  <a:srgbClr val="FFFFFF"/>
                </a:solidFill>
                <a:latin typeface="Arial"/>
              </a:rPr>
              <a:t>4 · GRID-STRIDE REFACTOR (KEY)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42716" y="13567750"/>
            <a:ext cx="9177338" cy="7096471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38562" y="13839444"/>
            <a:ext cx="8595360" cy="344709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lang="en-US" sz="2800" b="1" dirty="0"/>
              <a:t>•  Problem:</a:t>
            </a:r>
            <a:r>
              <a:rPr lang="en-US" sz="2800" dirty="0"/>
              <a:t xml:space="preserve"> one thread per path means the cuRAND state array grows with N (48 B × N) and its init dominates runtime.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lang="en-US" sz="2800" b="1" dirty="0"/>
              <a:t>•  Fix:</a:t>
            </a:r>
            <a:r>
              <a:rPr lang="en-US" sz="2800" dirty="0"/>
              <a:t xml:space="preserve"> a fixed 16,384-thread grid; each thread strides over many paths, reads its RNG state once, sums in registers.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lang="en-US" sz="2800" b="1" dirty="0"/>
              <a:t>•  Effect:</a:t>
            </a:r>
            <a:r>
              <a:rPr lang="en-US" sz="2800" dirty="0"/>
              <a:t xml:space="preserve"> init 65× cheaper; kernels flip from memory-bound to compute-bound — the single most important change.</a:t>
            </a:r>
            <a:endParaRPr sz="2800" b="0" dirty="0">
              <a:solidFill>
                <a:srgbClr val="202020"/>
              </a:solidFill>
              <a:latin typeface="Calibri"/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99144"/>
              </p:ext>
            </p:extLst>
          </p:nvPr>
        </p:nvGraphicFramePr>
        <p:xfrm>
          <a:off x="10691596" y="17775711"/>
          <a:ext cx="859212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Cost @ N=10⁶</a:t>
                      </a:r>
                    </a:p>
                  </a:txBody>
                  <a:tcPr marT="25400" marB="25400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T="25400" marB="25400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After (gain)</a:t>
                      </a:r>
                    </a:p>
                  </a:txBody>
                  <a:tcPr marT="25400" marB="25400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cuRAND states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 dirty="0">
                          <a:solidFill>
                            <a:srgbClr val="202020"/>
                          </a:solidFill>
                          <a:latin typeface="Calibri"/>
                        </a:rPr>
                        <a:t>48 B × 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48 B × 16,384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init_rng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 dirty="0">
                          <a:solidFill>
                            <a:srgbClr val="202020"/>
                          </a:solidFill>
                          <a:latin typeface="Calibri"/>
                        </a:rPr>
                        <a:t xml:space="preserve">44.6 </a:t>
                      </a:r>
                      <a:r>
                        <a:rPr sz="2100" b="0" i="0" dirty="0" err="1">
                          <a:solidFill>
                            <a:srgbClr val="202020"/>
                          </a:solidFill>
                          <a:latin typeface="Calibri"/>
                        </a:rPr>
                        <a:t>ms</a:t>
                      </a:r>
                      <a:endParaRPr sz="2100" b="0" i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0.68 ms (65×)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mc_shared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 dirty="0">
                          <a:solidFill>
                            <a:srgbClr val="202020"/>
                          </a:solidFill>
                          <a:latin typeface="Calibri"/>
                        </a:rPr>
                        <a:t xml:space="preserve">1.06 </a:t>
                      </a:r>
                      <a:r>
                        <a:rPr sz="2100" b="0" i="0" dirty="0" err="1">
                          <a:solidFill>
                            <a:srgbClr val="202020"/>
                          </a:solidFill>
                          <a:latin typeface="Calibri"/>
                        </a:rPr>
                        <a:t>ms</a:t>
                      </a:r>
                      <a:endParaRPr sz="2100" b="0" i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0.08 ms (13×)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mc_antithetic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 dirty="0">
                          <a:solidFill>
                            <a:srgbClr val="202020"/>
                          </a:solidFill>
                          <a:latin typeface="Calibri"/>
                        </a:rPr>
                        <a:t xml:space="preserve">0.61 </a:t>
                      </a:r>
                      <a:r>
                        <a:rPr sz="2100" b="0" i="0" dirty="0" err="1">
                          <a:solidFill>
                            <a:srgbClr val="202020"/>
                          </a:solidFill>
                          <a:latin typeface="Calibri"/>
                        </a:rPr>
                        <a:t>ms</a:t>
                      </a:r>
                      <a:endParaRPr sz="2100" b="0" i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 dirty="0">
                          <a:solidFill>
                            <a:srgbClr val="202020"/>
                          </a:solidFill>
                          <a:latin typeface="Calibri"/>
                        </a:rPr>
                        <a:t xml:space="preserve">0.07 </a:t>
                      </a:r>
                      <a:r>
                        <a:rPr sz="2100" b="0" i="0" dirty="0" err="1">
                          <a:solidFill>
                            <a:srgbClr val="202020"/>
                          </a:solidFill>
                          <a:latin typeface="Calibri"/>
                        </a:rPr>
                        <a:t>ms</a:t>
                      </a:r>
                      <a:r>
                        <a:rPr sz="2100" b="0" i="0" dirty="0">
                          <a:solidFill>
                            <a:srgbClr val="202020"/>
                          </a:solidFill>
                          <a:latin typeface="Calibri"/>
                        </a:rPr>
                        <a:t xml:space="preserve"> (8.7×)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10442716" y="21042262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BENCHMARK — THE RUNS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42716" y="22139542"/>
            <a:ext cx="9177338" cy="4128380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35324" y="22377286"/>
            <a:ext cx="8592122" cy="375487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>•  Sweep N ∈ {10⁴ … 5×10⁷}, 5 runs per size, seeds 1–5; report the median.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>•  A warm-up launch precedes each batch (drops JIT / cold-cache outliers).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 xml:space="preserve">•  GPU timed with CUDA events; CPU with wall-clock (QPC / </a:t>
            </a:r>
            <a:r>
              <a:rPr sz="2800" b="0" i="0" dirty="0" err="1">
                <a:solidFill>
                  <a:srgbClr val="202020"/>
                </a:solidFill>
                <a:latin typeface="Calibri"/>
              </a:rPr>
              <a:t>clock_gettime</a:t>
            </a:r>
            <a:r>
              <a:rPr sz="2800" b="0" i="0" dirty="0">
                <a:solidFill>
                  <a:srgbClr val="202020"/>
                </a:solidFill>
                <a:latin typeface="Calibri"/>
              </a:rPr>
              <a:t>).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>•  Every run validated against the analytical Black–Scholes price (within 4σ).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42716" y="26746135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Arial"/>
              </a:rPr>
              <a:t>RESULTS — END-TO-END SPEED-UP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42716" y="27889076"/>
            <a:ext cx="9177338" cy="5890259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fig_speedup_endto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324" y="28081159"/>
            <a:ext cx="8592122" cy="5429984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548936" y="35291663"/>
            <a:ext cx="8877443" cy="5843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0056475" y="12470470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300" b="1" dirty="0">
                <a:solidFill>
                  <a:srgbClr val="FFFFFF"/>
                </a:solidFill>
                <a:latin typeface="Arial"/>
              </a:rPr>
              <a:t xml:space="preserve">VALIDATION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056475" y="13567750"/>
            <a:ext cx="9177338" cy="9271615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fig_converge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49083" y="13805494"/>
            <a:ext cx="8592122" cy="591576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349083" y="19766981"/>
            <a:ext cx="8592122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Error vs N with an O(1/√N) guide — naive’s FP32 atomic sum degrades at 5×10⁷.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92187"/>
              </p:ext>
            </p:extLst>
          </p:nvPr>
        </p:nvGraphicFramePr>
        <p:xfrm>
          <a:off x="20349083" y="20288189"/>
          <a:ext cx="859212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Impl. (N=10⁶)</a:t>
                      </a:r>
                    </a:p>
                  </a:txBody>
                  <a:tcPr marT="25400" marB="25400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T="25400" marB="25400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Abs err</a:t>
                      </a:r>
                    </a:p>
                  </a:txBody>
                  <a:tcPr marT="25400" marB="25400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T="25400" marB="25400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mc_cpu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10.4501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mc_naive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10.4718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0.0212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mc_shared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10.4719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0.0213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202020"/>
                          </a:solidFill>
                          <a:latin typeface="Calibri"/>
                        </a:rPr>
                        <a:t>mc_antithetic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10.4593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0.0088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20202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RooflineHdr"/>
          <p:cNvSpPr/>
          <p:nvPr/>
        </p:nvSpPr>
        <p:spPr>
          <a:xfrm>
            <a:off x="20056475" y="23180040"/>
            <a:ext cx="9177338" cy="93783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txBody>
          <a:bodyPr wrap="square" lIns="101600" tIns="25400" rIns="101600" bIns="25400"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 · ROOFLINE — WHY IT’S FAST</a:t>
            </a:r>
          </a:p>
        </p:txBody>
      </p:sp>
      <p:sp>
        <p:nvSpPr>
          <p:cNvPr id="111" name="RooflineBody"/>
          <p:cNvSpPr/>
          <p:nvPr/>
        </p:nvSpPr>
        <p:spPr>
          <a:xfrm>
            <a:off x="20056475" y="24117876"/>
            <a:ext cx="9177338" cy="6355080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RooflinePic" descr="fig_roofl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36084" y="24364764"/>
            <a:ext cx="7818120" cy="5348582"/>
          </a:xfrm>
          <a:prstGeom prst="rect">
            <a:avLst/>
          </a:prstGeom>
        </p:spPr>
      </p:pic>
      <p:sp>
        <p:nvSpPr>
          <p:cNvPr id="113" name="RooflineCaption"/>
          <p:cNvSpPr txBox="1"/>
          <p:nvPr/>
        </p:nvSpPr>
        <p:spPr>
          <a:xfrm>
            <a:off x="20349083" y="29850000"/>
            <a:ext cx="8592122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Optimized kernels sit on the FP32 compute ceiling; mc_naive is stuck far below both ceilings at 2.8% of peak.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056475" y="30774420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056475" y="31871700"/>
            <a:ext cx="9177338" cy="5349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0349083" y="32109444"/>
            <a:ext cx="8592122" cy="48500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>•  One lesson per kernel: atomic contention (naive) → hierarchical reduction (shared) → variance reduction (±Z).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 xml:space="preserve">•  Grid-stride is the key refactor: state O(N) → O(threads), </a:t>
            </a:r>
            <a:r>
              <a:rPr sz="2800" b="0" i="0" dirty="0" err="1">
                <a:solidFill>
                  <a:srgbClr val="202020"/>
                </a:solidFill>
                <a:latin typeface="Calibri"/>
              </a:rPr>
              <a:t>init</a:t>
            </a:r>
            <a:r>
              <a:rPr sz="2800" b="0" i="0" dirty="0">
                <a:solidFill>
                  <a:srgbClr val="202020"/>
                </a:solidFill>
                <a:latin typeface="Calibri"/>
              </a:rPr>
              <a:t xml:space="preserve"> 65× faster, kernel 13× faster, memory- → compute-bound.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>•  Honest end-to-end speed-up ≈382× at 10⁷ paths (≈980× at 5×10⁷) — past the 200× goal; kernel-only ≈1652×.</a:t>
            </a:r>
          </a:p>
          <a:p>
            <a:pPr algn="l">
              <a:spcBef>
                <a:spcPts val="200"/>
              </a:spcBef>
              <a:spcAft>
                <a:spcPts val="700"/>
              </a:spcAft>
            </a:pPr>
            <a:r>
              <a:rPr sz="2800" b="0" i="0" dirty="0">
                <a:solidFill>
                  <a:srgbClr val="202020"/>
                </a:solidFill>
                <a:latin typeface="Calibri"/>
              </a:rPr>
              <a:t>•  Antithetic agrees with Black–Scholes to 0.8σ (all kernels ≤ 1.4σ at N = 10⁶); optimized kernels reach 76–79% of FP32 peak.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056475" y="37540980"/>
            <a:ext cx="9177338" cy="8686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CONFIGURATION &amp; REFERENCES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056475" y="38409660"/>
            <a:ext cx="9177338" cy="2697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349083" y="38619660"/>
            <a:ext cx="8592122" cy="23000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400" b="1" dirty="0">
                <a:solidFill>
                  <a:srgbClr val="202020"/>
                </a:solidFill>
                <a:latin typeface="Calibri"/>
              </a:rPr>
              <a:t xml:space="preserve">GPU:</a:t>
            </a:r>
            <a:r>
              <a:rPr sz="2400" b="0" dirty="0">
                <a:solidFill>
                  <a:srgbClr val="202020"/>
                </a:solidFill>
                <a:latin typeface="Calibri"/>
              </a:rPr>
              <a:t xml:space="preserve"> NVIDIA GTX 1650 (Turing TU117, sm_75, 16 SM, 4 GB GDDR5, 128 GB/s)  ·  CPU: AMD Ryzen 7 5800H  ·  Windows 11.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400" b="1" dirty="0">
                <a:solidFill>
                  <a:srgbClr val="202020"/>
                </a:solidFill>
                <a:latin typeface="Calibri"/>
              </a:rPr>
              <a:t xml:space="preserve">Toolchain:</a:t>
            </a:r>
            <a:r>
              <a:rPr sz="2400" b="0" dirty="0">
                <a:solidFill>
                  <a:srgbClr val="202020"/>
                </a:solidFill>
                <a:latin typeface="Calibri"/>
              </a:rPr>
              <a:t xml:space="preserve"> CUDA 12.4, nvcc + MSVC, FP32, cuRAND XORWOW  ·  flags: -O3 -arch=sm_75 -lineinfo -std=c++14.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2400" b="1" dirty="0">
                <a:solidFill>
                  <a:srgbClr val="202020"/>
                </a:solidFill>
                <a:latin typeface="Calibri"/>
              </a:rPr>
              <a:t xml:space="preserve">Refs:</a:t>
            </a:r>
            <a:r>
              <a:rPr sz="2400" b="0" dirty="0">
                <a:solidFill>
                  <a:srgbClr val="202020"/>
                </a:solidFill>
                <a:latin typeface="Calibri"/>
              </a:rPr>
              <a:t xml:space="preserve"> Black–Scholes (1973) · Glasserman (2003) · Williams et al., Roofline (CACM 2009) · NVIDIA cuRAND &amp; Nsight guides.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42716" y="34194383"/>
            <a:ext cx="9177338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/>
            <a:r>
              <a:rPr sz="3700" b="1">
                <a:solidFill>
                  <a:srgbClr val="FFFFFF"/>
                </a:solidFill>
                <a:latin typeface="Arial"/>
              </a:rPr>
              <a:t>RESULTS — THROUGHPUT</a:t>
            </a:r>
          </a:p>
        </p:txBody>
      </p:sp>
      <p:pic>
        <p:nvPicPr>
          <p:cNvPr id="17" name="Picture 16" descr="fig_through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5282" y="35529407"/>
            <a:ext cx="6864750" cy="486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41545" y="40500000"/>
            <a:ext cx="8592122" cy="55399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  <a:latin typeface="Calibri"/>
              </a:rPr>
              <a:t xml:space="preserve">Throughput vs N (log–log). CPU ≈30 M/s;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mc_naive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 xml:space="preserve"> saturates at ≈415 M/s (atomic bus);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optimized kernels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 xml:space="preserve"> reach tens of G paths/s.</a:t>
            </a:r>
          </a:p>
        </p:txBody>
      </p:sp>
      <p:sp>
        <p:nvSpPr>
          <p:cNvPr id="120" name="HeroBand"/>
          <p:cNvSpPr/>
          <p:nvPr/>
        </p:nvSpPr>
        <p:spPr>
          <a:xfrm>
            <a:off x="914400" y="41410000"/>
            <a:ext cx="28446412" cy="10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HeroStat 1"/>
          <p:cNvSpPr txBox="1"/>
          <p:nvPr/>
        </p:nvSpPr>
        <p:spPr>
          <a:xfrm>
            <a:off x="1009041" y="41490000"/>
            <a:ext cx="5500000" cy="9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Arial"/>
              </a:rPr>
              <a:t>382×</a:t>
            </a:r>
          </a:p>
          <a:p>
            <a:pPr algn="ctr"/>
            <a:r>
              <a:rPr lang="en-US" sz="1500" b="0" dirty="0">
                <a:solidFill>
                  <a:srgbClr val="CADCFC"/>
                </a:solidFill>
                <a:latin typeface="Calibri"/>
              </a:rPr>
              <a:t>end-to-end vs CPU · N = 10⁷</a:t>
            </a:r>
          </a:p>
        </p:txBody>
      </p:sp>
      <p:sp>
        <p:nvSpPr>
          <p:cNvPr id="115" name="HeroStat 2"/>
          <p:cNvSpPr txBox="1"/>
          <p:nvPr/>
        </p:nvSpPr>
        <p:spPr>
          <a:xfrm>
            <a:off x="6698323" y="41490000"/>
            <a:ext cx="5500000" cy="9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Arial"/>
              </a:rPr>
              <a:t>980×</a:t>
            </a:r>
          </a:p>
          <a:p>
            <a:pPr algn="ctr"/>
            <a:r>
              <a:rPr lang="en-US" sz="1500" b="0" dirty="0">
                <a:solidFill>
                  <a:srgbClr val="CADCFC"/>
                </a:solidFill>
                <a:latin typeface="Calibri"/>
              </a:rPr>
              <a:t>end-to-end vs CPU · N = 5×10⁷</a:t>
            </a:r>
          </a:p>
        </p:txBody>
      </p:sp>
      <p:sp>
        <p:nvSpPr>
          <p:cNvPr id="116" name="HeroStat 3"/>
          <p:cNvSpPr txBox="1"/>
          <p:nvPr/>
        </p:nvSpPr>
        <p:spPr>
          <a:xfrm>
            <a:off x="12387605" y="41490000"/>
            <a:ext cx="5500000" cy="9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Arial"/>
              </a:rPr>
              <a:t>1652×</a:t>
            </a:r>
          </a:p>
          <a:p>
            <a:pPr algn="ctr"/>
            <a:r>
              <a:rPr lang="en-US" sz="1500" b="0" dirty="0">
                <a:solidFill>
                  <a:srgbClr val="CADCFC"/>
                </a:solidFill>
                <a:latin typeface="Calibri"/>
              </a:rPr>
              <a:t>kernel-only speed-up · N = 5×10⁷</a:t>
            </a:r>
          </a:p>
        </p:txBody>
      </p:sp>
      <p:sp>
        <p:nvSpPr>
          <p:cNvPr id="117" name="HeroStat 4"/>
          <p:cNvSpPr txBox="1"/>
          <p:nvPr/>
        </p:nvSpPr>
        <p:spPr>
          <a:xfrm>
            <a:off x="18076887" y="41490000"/>
            <a:ext cx="5500000" cy="9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Arial"/>
              </a:rPr>
              <a:t>2.8% → 79%</a:t>
            </a:r>
          </a:p>
          <a:p>
            <a:pPr algn="ctr"/>
            <a:r>
              <a:rPr lang="en-US" sz="1500" b="0" dirty="0">
                <a:solidFill>
                  <a:srgbClr val="CADCFC"/>
                </a:solidFill>
                <a:latin typeface="Calibri"/>
              </a:rPr>
              <a:t>SM throughput · naive → optimized</a:t>
            </a:r>
          </a:p>
        </p:txBody>
      </p:sp>
      <p:sp>
        <p:nvSpPr>
          <p:cNvPr id="118" name="HeroStat 5"/>
          <p:cNvSpPr txBox="1"/>
          <p:nvPr/>
        </p:nvSpPr>
        <p:spPr>
          <a:xfrm>
            <a:off x="23766169" y="41490000"/>
            <a:ext cx="5500000" cy="9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Arial"/>
              </a:rPr>
              <a:t>0.8σ</a:t>
            </a:r>
          </a:p>
          <a:p>
            <a:pPr algn="ctr"/>
            <a:r>
              <a:rPr lang="en-US" sz="1500" b="0" dirty="0">
                <a:solidFill>
                  <a:srgbClr val="CADCFC"/>
                </a:solidFill>
                <a:latin typeface="Calibri"/>
              </a:rPr>
              <a:t>antithetic error vs Black–Scholes · N = 10⁶</a:t>
            </a:r>
          </a:p>
        </p:txBody>
      </p:sp>
    </p:spTree>
    <p:extLst>
      <p:ext uri="{BB962C8B-B14F-4D97-AF65-F5344CB8AC3E}">
        <p14:creationId xmlns:p14="http://schemas.microsoft.com/office/powerpoint/2010/main" val="1105944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653</TotalTime>
  <Words>1133</Words>
  <Application>Microsoft Office PowerPoint</Application>
  <PresentationFormat>Özel</PresentationFormat>
  <Paragraphs>76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Sunusu</vt:lpstr>
    </vt:vector>
  </TitlesOfParts>
  <Company>SIU School of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Lydia Howes</dc:creator>
  <cp:lastModifiedBy>talha sarlık</cp:lastModifiedBy>
  <cp:revision>54</cp:revision>
  <dcterms:created xsi:type="dcterms:W3CDTF">2017-09-05T20:02:28Z</dcterms:created>
  <dcterms:modified xsi:type="dcterms:W3CDTF">2026-06-10T23:01:35Z</dcterms:modified>
</cp:coreProperties>
</file>