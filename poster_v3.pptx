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
  </p:notes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1" userDrawn="1">
          <p15:clr>
            <a:srgbClr val="A4A3A4"/>
          </p15:clr>
        </p15:guide>
        <p15:guide id="2" pos="9536" userDrawn="1">
          <p15:clr>
            <a:srgbClr val="A4A3A4"/>
          </p15:clr>
        </p15:guide>
        <p15:guide id="3" pos="18922" userDrawn="1">
          <p15:clr>
            <a:srgbClr val="A4A3A4"/>
          </p15:clr>
        </p15:guide>
        <p15:guide id="4" pos="149" userDrawn="1">
          <p15:clr>
            <a:srgbClr val="A4A3A4"/>
          </p15:clr>
        </p15:guide>
        <p15:guide id="5" orient="horz" pos="2682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ydia Howes" initials="LH" lastIdx="1" clrIdx="0">
    <p:extLst>
      <p:ext uri="{19B8F6BF-5375-455C-9EA6-DF929625EA0E}">
        <p15:presenceInfo xmlns:p15="http://schemas.microsoft.com/office/powerpoint/2012/main" userId="S-1-5-21-3267252026-959778862-486524141-93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4106" autoAdjust="0"/>
    <p:restoredTop sz="96433" autoAdjust="0"/>
  </p:normalViewPr>
  <p:slideViewPr>
    <p:cSldViewPr snapToGrid="0" showGuides="1">
      <p:cViewPr varScale="1">
        <p:scale>
          <a:sx n="17" d="100"/>
          <a:sy n="17" d="100"/>
        </p:scale>
        <p:origin x="3810" y="120"/>
      </p:cViewPr>
      <p:guideLst>
        <p:guide orient="horz" pos="111"/>
        <p:guide pos="9536"/>
        <p:guide pos="18922"/>
        <p:guide pos="149"/>
        <p:guide orient="horz" pos="2682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2-14T17:49:47.629" idx="1">
    <p:pos x="-2" y="-8"/>
    <p:text>The Library does not have the ability for edge-to-edge printing, so leave room for margins! The template has guides in place to help. To turn guides on or off, go to View--&gt;Show--&gt; check/uncheck guides.</p:text>
    <p:extLst>
      <p:ext uri="{C676402C-5697-4E1C-873F-D02D1690AC5C}">
        <p15:threadingInfo xmlns:p15="http://schemas.microsoft.com/office/powerpoint/2012/main" timeZoneBias="3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CC6F1A-1039-4C54-9CFF-5DE3C97F7A89}" type="datetimeFigureOut">
              <a:rPr lang="en-US" smtClean="0"/>
              <a:t>6/11/2026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A66B9-DB0A-49EB-B2C8-69ADD5BB5942}" type="slidenum">
              <a:rPr lang="en-US" smtClean="0"/>
              <a:t>‹#›</a:t>
            </a:fld>
            <a:endParaRPr lang="en-US"/>
          </a:p>
        </p:txBody>
      </p:sp>
    </p:spTree>
    <p:extLst>
      <p:ext uri="{BB962C8B-B14F-4D97-AF65-F5344CB8AC3E}">
        <p14:creationId xmlns:p14="http://schemas.microsoft.com/office/powerpoint/2010/main" val="2481006503"/>
      </p:ext>
    </p:extLst>
  </p:cSld>
  <p:clrMap bg1="lt1" tx1="dk1" bg2="lt2" tx2="dk2" accent1="accent1" accent2="accent2" accent3="accent3" accent4="accent4" accent5="accent5" accent6="accent6" hlink="hlink" folHlink="folHlink"/>
  <p:notesStyle>
    <a:lvl1pPr marL="0" algn="l" defTabSz="914561" rtl="0" eaLnBrk="1" latinLnBrk="0" hangingPunct="1">
      <a:defRPr sz="1200" kern="1200">
        <a:solidFill>
          <a:schemeClr val="tx1"/>
        </a:solidFill>
        <a:latin typeface="+mn-lt"/>
        <a:ea typeface="+mn-ea"/>
        <a:cs typeface="+mn-cs"/>
      </a:defRPr>
    </a:lvl1pPr>
    <a:lvl2pPr marL="457281" algn="l" defTabSz="914561" rtl="0" eaLnBrk="1" latinLnBrk="0" hangingPunct="1">
      <a:defRPr sz="1200" kern="1200">
        <a:solidFill>
          <a:schemeClr val="tx1"/>
        </a:solidFill>
        <a:latin typeface="+mn-lt"/>
        <a:ea typeface="+mn-ea"/>
        <a:cs typeface="+mn-cs"/>
      </a:defRPr>
    </a:lvl2pPr>
    <a:lvl3pPr marL="914561" algn="l" defTabSz="914561" rtl="0" eaLnBrk="1" latinLnBrk="0" hangingPunct="1">
      <a:defRPr sz="1200" kern="1200">
        <a:solidFill>
          <a:schemeClr val="tx1"/>
        </a:solidFill>
        <a:latin typeface="+mn-lt"/>
        <a:ea typeface="+mn-ea"/>
        <a:cs typeface="+mn-cs"/>
      </a:defRPr>
    </a:lvl3pPr>
    <a:lvl4pPr marL="1371842" algn="l" defTabSz="914561" rtl="0" eaLnBrk="1" latinLnBrk="0" hangingPunct="1">
      <a:defRPr sz="1200" kern="1200">
        <a:solidFill>
          <a:schemeClr val="tx1"/>
        </a:solidFill>
        <a:latin typeface="+mn-lt"/>
        <a:ea typeface="+mn-ea"/>
        <a:cs typeface="+mn-cs"/>
      </a:defRPr>
    </a:lvl4pPr>
    <a:lvl5pPr marL="1829124" algn="l" defTabSz="914561" rtl="0" eaLnBrk="1" latinLnBrk="0" hangingPunct="1">
      <a:defRPr sz="1200" kern="1200">
        <a:solidFill>
          <a:schemeClr val="tx1"/>
        </a:solidFill>
        <a:latin typeface="+mn-lt"/>
        <a:ea typeface="+mn-ea"/>
        <a:cs typeface="+mn-cs"/>
      </a:defRPr>
    </a:lvl5pPr>
    <a:lvl6pPr marL="2286405" algn="l" defTabSz="914561" rtl="0" eaLnBrk="1" latinLnBrk="0" hangingPunct="1">
      <a:defRPr sz="1200" kern="1200">
        <a:solidFill>
          <a:schemeClr val="tx1"/>
        </a:solidFill>
        <a:latin typeface="+mn-lt"/>
        <a:ea typeface="+mn-ea"/>
        <a:cs typeface="+mn-cs"/>
      </a:defRPr>
    </a:lvl6pPr>
    <a:lvl7pPr marL="2743686" algn="l" defTabSz="914561" rtl="0" eaLnBrk="1" latinLnBrk="0" hangingPunct="1">
      <a:defRPr sz="1200" kern="1200">
        <a:solidFill>
          <a:schemeClr val="tx1"/>
        </a:solidFill>
        <a:latin typeface="+mn-lt"/>
        <a:ea typeface="+mn-ea"/>
        <a:cs typeface="+mn-cs"/>
      </a:defRPr>
    </a:lvl7pPr>
    <a:lvl8pPr marL="3200966" algn="l" defTabSz="914561" rtl="0" eaLnBrk="1" latinLnBrk="0" hangingPunct="1">
      <a:defRPr sz="1200" kern="1200">
        <a:solidFill>
          <a:schemeClr val="tx1"/>
        </a:solidFill>
        <a:latin typeface="+mn-lt"/>
        <a:ea typeface="+mn-ea"/>
        <a:cs typeface="+mn-cs"/>
      </a:defRPr>
    </a:lvl8pPr>
    <a:lvl9pPr marL="3658247" algn="l" defTabSz="914561"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38388" y="1143000"/>
            <a:ext cx="2181225" cy="3086100"/>
          </a:xfrm>
        </p:spPr>
      </p:sp>
      <p:sp>
        <p:nvSpPr>
          <p:cNvPr id="3" name="Notes Placeholder 2"/>
          <p:cNvSpPr>
            <a:spLocks noGrp="1"/>
          </p:cNvSpPr>
          <p:nvPr>
            <p:ph type="body" idx="1"/>
          </p:nvPr>
        </p:nvSpPr>
        <p:spPr/>
        <p:txBody>
          <a:bodyPr/>
          <a:lstStyle/>
          <a:p>
            <a:pPr defTabSz="3707151">
              <a:defRPr/>
            </a:pPr>
            <a:r>
              <a:rPr lang="en-US" baseline="0" dirty="0"/>
              <a:t>Prints as 33.1 x 46.8 (A0) at 100%. When printed using the library printing service, this will require trimming from 36 inch wide paper. To fill 36 inch paper roll, scale to 108.5% (prints as ~ 36 X 51).</a:t>
            </a:r>
            <a:endParaRPr lang="en-US" dirty="0"/>
          </a:p>
          <a:p>
            <a:endParaRPr lang="en-US" dirty="0"/>
          </a:p>
        </p:txBody>
      </p:sp>
      <p:sp>
        <p:nvSpPr>
          <p:cNvPr id="4" name="Slide Number Placeholder 3"/>
          <p:cNvSpPr>
            <a:spLocks noGrp="1"/>
          </p:cNvSpPr>
          <p:nvPr>
            <p:ph type="sldNum" sz="quarter" idx="10"/>
          </p:nvPr>
        </p:nvSpPr>
        <p:spPr/>
        <p:txBody>
          <a:bodyPr/>
          <a:lstStyle/>
          <a:p>
            <a:fld id="{3C7A66B9-DB0A-49EB-B2C8-69ADD5BB5942}" type="slidenum">
              <a:rPr lang="en-US" smtClean="0"/>
              <a:t>1</a:t>
            </a:fld>
            <a:endParaRPr lang="en-US"/>
          </a:p>
        </p:txBody>
      </p:sp>
    </p:spTree>
    <p:extLst>
      <p:ext uri="{BB962C8B-B14F-4D97-AF65-F5344CB8AC3E}">
        <p14:creationId xmlns:p14="http://schemas.microsoft.com/office/powerpoint/2010/main" val="415525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F095314-68FD-4919-B69A-04FEC013801C}"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AB05BA-0348-42F8-93EF-7E6BE1067B20}" type="slidenum">
              <a:rPr lang="en-US" smtClean="0"/>
              <a:t>‹#›</a:t>
            </a:fld>
            <a:endParaRPr lang="en-US"/>
          </a:p>
        </p:txBody>
      </p:sp>
    </p:spTree>
    <p:extLst>
      <p:ext uri="{BB962C8B-B14F-4D97-AF65-F5344CB8AC3E}">
        <p14:creationId xmlns:p14="http://schemas.microsoft.com/office/powerpoint/2010/main" val="2608321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095314-68FD-4919-B69A-04FEC013801C}"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AB05BA-0348-42F8-93EF-7E6BE1067B20}" type="slidenum">
              <a:rPr lang="en-US" smtClean="0"/>
              <a:t>‹#›</a:t>
            </a:fld>
            <a:endParaRPr lang="en-US"/>
          </a:p>
        </p:txBody>
      </p:sp>
    </p:spTree>
    <p:extLst>
      <p:ext uri="{BB962C8B-B14F-4D97-AF65-F5344CB8AC3E}">
        <p14:creationId xmlns:p14="http://schemas.microsoft.com/office/powerpoint/2010/main" val="2035173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095314-68FD-4919-B69A-04FEC013801C}"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AB05BA-0348-42F8-93EF-7E6BE1067B20}" type="slidenum">
              <a:rPr lang="en-US" smtClean="0"/>
              <a:t>‹#›</a:t>
            </a:fld>
            <a:endParaRPr lang="en-US"/>
          </a:p>
        </p:txBody>
      </p:sp>
    </p:spTree>
    <p:extLst>
      <p:ext uri="{BB962C8B-B14F-4D97-AF65-F5344CB8AC3E}">
        <p14:creationId xmlns:p14="http://schemas.microsoft.com/office/powerpoint/2010/main" val="2850532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F095314-68FD-4919-B69A-04FEC013801C}"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AB05BA-0348-42F8-93EF-7E6BE1067B20}" type="slidenum">
              <a:rPr lang="en-US" smtClean="0"/>
              <a:t>‹#›</a:t>
            </a:fld>
            <a:endParaRPr lang="en-US"/>
          </a:p>
        </p:txBody>
      </p:sp>
    </p:spTree>
    <p:extLst>
      <p:ext uri="{BB962C8B-B14F-4D97-AF65-F5344CB8AC3E}">
        <p14:creationId xmlns:p14="http://schemas.microsoft.com/office/powerpoint/2010/main" val="3458748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F095314-68FD-4919-B69A-04FEC013801C}" type="datetimeFigureOut">
              <a:rPr lang="en-US" smtClean="0"/>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AB05BA-0348-42F8-93EF-7E6BE1067B20}" type="slidenum">
              <a:rPr lang="en-US" smtClean="0"/>
              <a:t>‹#›</a:t>
            </a:fld>
            <a:endParaRPr lang="en-US"/>
          </a:p>
        </p:txBody>
      </p:sp>
    </p:spTree>
    <p:extLst>
      <p:ext uri="{BB962C8B-B14F-4D97-AF65-F5344CB8AC3E}">
        <p14:creationId xmlns:p14="http://schemas.microsoft.com/office/powerpoint/2010/main" val="3533896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F095314-68FD-4919-B69A-04FEC013801C}" type="datetimeFigureOut">
              <a:rPr lang="en-US" smtClean="0"/>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5AB05BA-0348-42F8-93EF-7E6BE1067B20}" type="slidenum">
              <a:rPr lang="en-US" smtClean="0"/>
              <a:t>‹#›</a:t>
            </a:fld>
            <a:endParaRPr lang="en-US"/>
          </a:p>
        </p:txBody>
      </p:sp>
    </p:spTree>
    <p:extLst>
      <p:ext uri="{BB962C8B-B14F-4D97-AF65-F5344CB8AC3E}">
        <p14:creationId xmlns:p14="http://schemas.microsoft.com/office/powerpoint/2010/main" val="2104350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095314-68FD-4919-B69A-04FEC013801C}" type="datetimeFigureOut">
              <a:rPr lang="en-US" smtClean="0"/>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5AB05BA-0348-42F8-93EF-7E6BE1067B20}" type="slidenum">
              <a:rPr lang="en-US" smtClean="0"/>
              <a:t>‹#›</a:t>
            </a:fld>
            <a:endParaRPr lang="en-US"/>
          </a:p>
        </p:txBody>
      </p:sp>
    </p:spTree>
    <p:extLst>
      <p:ext uri="{BB962C8B-B14F-4D97-AF65-F5344CB8AC3E}">
        <p14:creationId xmlns:p14="http://schemas.microsoft.com/office/powerpoint/2010/main" val="2729267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DF095314-68FD-4919-B69A-04FEC013801C}"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AB05BA-0348-42F8-93EF-7E6BE1067B20}" type="slidenum">
              <a:rPr lang="en-US" smtClean="0"/>
              <a:t>‹#›</a:t>
            </a:fld>
            <a:endParaRPr lang="en-US"/>
          </a:p>
        </p:txBody>
      </p:sp>
    </p:spTree>
    <p:extLst>
      <p:ext uri="{BB962C8B-B14F-4D97-AF65-F5344CB8AC3E}">
        <p14:creationId xmlns:p14="http://schemas.microsoft.com/office/powerpoint/2010/main" val="1487978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DF095314-68FD-4919-B69A-04FEC013801C}"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AB05BA-0348-42F8-93EF-7E6BE1067B20}" type="slidenum">
              <a:rPr lang="en-US" smtClean="0"/>
              <a:t>‹#›</a:t>
            </a:fld>
            <a:endParaRPr lang="en-US"/>
          </a:p>
        </p:txBody>
      </p:sp>
    </p:spTree>
    <p:extLst>
      <p:ext uri="{BB962C8B-B14F-4D97-AF65-F5344CB8AC3E}">
        <p14:creationId xmlns:p14="http://schemas.microsoft.com/office/powerpoint/2010/main" val="353457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095314-68FD-4919-B69A-04FEC013801C}"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AB05BA-0348-42F8-93EF-7E6BE1067B20}" type="slidenum">
              <a:rPr lang="en-US" smtClean="0"/>
              <a:t>‹#›</a:t>
            </a:fld>
            <a:endParaRPr lang="en-US"/>
          </a:p>
        </p:txBody>
      </p:sp>
    </p:spTree>
    <p:extLst>
      <p:ext uri="{BB962C8B-B14F-4D97-AF65-F5344CB8AC3E}">
        <p14:creationId xmlns:p14="http://schemas.microsoft.com/office/powerpoint/2010/main" val="1174885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095314-68FD-4919-B69A-04FEC013801C}"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AB05BA-0348-42F8-93EF-7E6BE1067B20}" type="slidenum">
              <a:rPr lang="en-US" smtClean="0"/>
              <a:t>‹#›</a:t>
            </a:fld>
            <a:endParaRPr lang="en-US"/>
          </a:p>
        </p:txBody>
      </p:sp>
    </p:spTree>
    <p:extLst>
      <p:ext uri="{BB962C8B-B14F-4D97-AF65-F5344CB8AC3E}">
        <p14:creationId xmlns:p14="http://schemas.microsoft.com/office/powerpoint/2010/main" val="2177238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DF095314-68FD-4919-B69A-04FEC013801C}" type="datetimeFigureOut">
              <a:rPr lang="en-US" smtClean="0"/>
              <a:t>6/11/2026</a:t>
            </a:fld>
            <a:endParaRPr lang="en-US"/>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75AB05BA-0348-42F8-93EF-7E6BE1067B20}" type="slidenum">
              <a:rPr lang="en-US" smtClean="0"/>
              <a:t>‹#›</a:t>
            </a:fld>
            <a:endParaRPr lang="en-US"/>
          </a:p>
        </p:txBody>
      </p:sp>
    </p:spTree>
    <p:extLst>
      <p:ext uri="{BB962C8B-B14F-4D97-AF65-F5344CB8AC3E}">
        <p14:creationId xmlns:p14="http://schemas.microsoft.com/office/powerpoint/2010/main" val="344072271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457200"/>
            <a:ext cx="28446412" cy="269748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0" y="640080"/>
            <a:ext cx="22960012" cy="1417320"/>
          </a:xfrm>
          <a:prstGeom prst="rect">
            <a:avLst/>
          </a:prstGeom>
          <a:noFill/>
        </p:spPr>
        <p:txBody>
          <a:bodyPr wrap="square" lIns="25400" tIns="0" rIns="25400" bIns="0">
            <a:spAutoFit/>
          </a:bodyPr>
          <a:lstStyle/>
          <a:p>
            <a:pPr algn="ctr">
              <a:spcBef>
                <a:spcPts val="0"/>
              </a:spcBef>
              <a:spcAft>
                <a:spcPts val="400"/>
              </a:spcAft>
            </a:pPr>
            <a:r>
              <a:rPr sz="5300" b="1" i="0">
                <a:solidFill>
                  <a:srgbClr val="FFFFFF"/>
                </a:solidFill>
                <a:latin typeface="Calibri Light"/>
              </a:rPr>
              <a:t>GPU-Accelerated Monte Carlo Simulation</a:t>
            </a:r>
          </a:p>
          <a:p>
            <a:pPr algn="ctr">
              <a:spcBef>
                <a:spcPts val="0"/>
              </a:spcBef>
              <a:spcAft>
                <a:spcPts val="400"/>
              </a:spcAft>
            </a:pPr>
            <a:r>
              <a:rPr sz="5300" b="1" i="0">
                <a:solidFill>
                  <a:srgbClr val="FFFFFF"/>
                </a:solidFill>
                <a:latin typeface="Calibri Light"/>
              </a:rPr>
              <a:t>for European Option Pricing</a:t>
            </a:r>
          </a:p>
        </p:txBody>
      </p:sp>
      <p:sp>
        <p:nvSpPr>
          <p:cNvPr id="4" name="TextBox 3"/>
          <p:cNvSpPr txBox="1"/>
          <p:nvPr/>
        </p:nvSpPr>
        <p:spPr>
          <a:xfrm>
            <a:off x="3657600" y="2304288"/>
            <a:ext cx="22960012" cy="825867"/>
          </a:xfrm>
          <a:prstGeom prst="rect">
            <a:avLst/>
          </a:prstGeom>
          <a:noFill/>
        </p:spPr>
        <p:txBody>
          <a:bodyPr wrap="square" lIns="25400" tIns="0" rIns="25400" bIns="0">
            <a:spAutoFit/>
          </a:bodyPr>
          <a:lstStyle/>
          <a:p>
            <a:pPr algn="ctr">
              <a:spcBef>
                <a:spcPts val="0"/>
              </a:spcBef>
              <a:spcAft>
                <a:spcPts val="200"/>
              </a:spcAft>
            </a:pPr>
            <a:r>
              <a:rPr sz="2600" b="0" i="0" dirty="0">
                <a:solidFill>
                  <a:srgbClr val="FFFFFF"/>
                </a:solidFill>
                <a:latin typeface="Calibri"/>
              </a:rPr>
              <a:t>Talha </a:t>
            </a:r>
            <a:r>
              <a:rPr sz="2600" b="0" i="0" dirty="0" err="1">
                <a:solidFill>
                  <a:srgbClr val="FFFFFF"/>
                </a:solidFill>
                <a:latin typeface="Calibri"/>
              </a:rPr>
              <a:t>Sarlık</a:t>
            </a:r>
            <a:r>
              <a:rPr sz="2600" b="0" i="0" dirty="0">
                <a:solidFill>
                  <a:srgbClr val="FFFFFF"/>
                </a:solidFill>
                <a:latin typeface="Calibri"/>
              </a:rPr>
              <a:t> (704241052)  ·  Mehmet Bedirhan Önder (704251026)  ·  </a:t>
            </a:r>
            <a:r>
              <a:rPr lang="en-US" sz="2600" b="0" i="0" dirty="0">
                <a:solidFill>
                  <a:srgbClr val="FFFFFF"/>
                </a:solidFill>
                <a:latin typeface="Calibri"/>
              </a:rPr>
              <a:t>I</a:t>
            </a:r>
            <a:r>
              <a:rPr sz="2600" b="0" i="0" dirty="0">
                <a:solidFill>
                  <a:srgbClr val="FFFFFF"/>
                </a:solidFill>
                <a:latin typeface="Calibri"/>
              </a:rPr>
              <a:t>stanbul Technical University</a:t>
            </a:r>
          </a:p>
          <a:p>
            <a:pPr algn="ctr">
              <a:spcBef>
                <a:spcPts val="0"/>
              </a:spcBef>
              <a:spcAft>
                <a:spcPts val="200"/>
              </a:spcAft>
            </a:pPr>
            <a:r>
              <a:rPr sz="2600" b="0" i="0" dirty="0">
                <a:solidFill>
                  <a:srgbClr val="FFFFFF"/>
                </a:solidFill>
                <a:latin typeface="Calibri"/>
              </a:rPr>
              <a:t>BLG 562E — Parallel Computing for GPUs Using CUDA</a:t>
            </a:r>
          </a:p>
        </p:txBody>
      </p:sp>
      <p:sp>
        <p:nvSpPr>
          <p:cNvPr id="5" name="Rounded Rectangle 4"/>
          <p:cNvSpPr/>
          <p:nvPr/>
        </p:nvSpPr>
        <p:spPr>
          <a:xfrm>
            <a:off x="1325880" y="845820"/>
            <a:ext cx="3209544" cy="1920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TU_logo.png"/>
          <p:cNvPicPr>
            <a:picLocks noChangeAspect="1"/>
          </p:cNvPicPr>
          <p:nvPr/>
        </p:nvPicPr>
        <p:blipFill>
          <a:blip r:embed="rId3"/>
          <a:stretch>
            <a:fillRect/>
          </a:stretch>
        </p:blipFill>
        <p:spPr>
          <a:xfrm>
            <a:off x="1554480" y="1028700"/>
            <a:ext cx="2752344" cy="1554480"/>
          </a:xfrm>
          <a:prstGeom prst="rect">
            <a:avLst/>
          </a:prstGeom>
        </p:spPr>
      </p:pic>
      <p:sp>
        <p:nvSpPr>
          <p:cNvPr id="7" name="Rectangle 6"/>
          <p:cNvSpPr/>
          <p:nvPr/>
        </p:nvSpPr>
        <p:spPr>
          <a:xfrm>
            <a:off x="10548937" y="3365433"/>
            <a:ext cx="18811875" cy="100584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25400" rIns="101600" bIns="25400" rtlCol="0" anchor="ctr"/>
          <a:lstStyle/>
          <a:p>
            <a:pPr algn="ctr"/>
            <a:r>
              <a:rPr sz="4000" b="1">
                <a:solidFill>
                  <a:srgbClr val="FFFFFF"/>
                </a:solidFill>
                <a:latin typeface="Arial"/>
              </a:rPr>
              <a:t>THE THREE KERNELS — WHERE THEY DIFFER</a:t>
            </a:r>
          </a:p>
        </p:txBody>
      </p:sp>
      <p:pic>
        <p:nvPicPr>
          <p:cNvPr id="8" name="Picture 7" descr="kernel_architecture.png"/>
          <p:cNvPicPr>
            <a:picLocks noChangeAspect="1"/>
          </p:cNvPicPr>
          <p:nvPr/>
        </p:nvPicPr>
        <p:blipFill>
          <a:blip r:embed="rId4"/>
          <a:srcRect t="13590"/>
          <a:stretch>
            <a:fillRect/>
          </a:stretch>
        </p:blipFill>
        <p:spPr>
          <a:xfrm>
            <a:off x="10841545" y="4416934"/>
            <a:ext cx="18365715" cy="7530883"/>
          </a:xfrm>
          <a:prstGeom prst="rect">
            <a:avLst/>
          </a:prstGeom>
        </p:spPr>
      </p:pic>
      <p:sp>
        <p:nvSpPr>
          <p:cNvPr id="13" name="Rectangle 12"/>
          <p:cNvSpPr/>
          <p:nvPr/>
        </p:nvSpPr>
        <p:spPr>
          <a:xfrm>
            <a:off x="914400" y="3401568"/>
            <a:ext cx="8884730" cy="93783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25400" rIns="101600" bIns="25400" rtlCol="0" anchor="ctr"/>
          <a:lstStyle/>
          <a:p>
            <a:pPr algn="ctr"/>
            <a:r>
              <a:rPr sz="3800" b="1">
                <a:solidFill>
                  <a:srgbClr val="FFFFFF"/>
                </a:solidFill>
                <a:latin typeface="Arial"/>
              </a:rPr>
              <a:t>PROJECT OVERVIEW</a:t>
            </a:r>
          </a:p>
        </p:txBody>
      </p:sp>
      <p:sp>
        <p:nvSpPr>
          <p:cNvPr id="14" name="Rectangle 13"/>
          <p:cNvSpPr/>
          <p:nvPr/>
        </p:nvSpPr>
        <p:spPr>
          <a:xfrm>
            <a:off x="914400" y="4498849"/>
            <a:ext cx="8884730" cy="8238357"/>
          </a:xfrm>
          <a:prstGeom prst="rect">
            <a:avLst/>
          </a:prstGeom>
          <a:solidFill>
            <a:srgbClr val="F2F2F2"/>
          </a:solidFill>
          <a:ln w="12700">
            <a:solidFill>
              <a:srgbClr val="CF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07008" y="4770542"/>
            <a:ext cx="8321308" cy="7325082"/>
          </a:xfrm>
          <a:prstGeom prst="rect">
            <a:avLst/>
          </a:prstGeom>
          <a:noFill/>
        </p:spPr>
        <p:txBody>
          <a:bodyPr wrap="square" lIns="25400" tIns="0" rIns="25400" bIns="0">
            <a:spAutoFit/>
          </a:bodyPr>
          <a:lstStyle/>
          <a:p>
            <a:r>
              <a:rPr lang="en-US" sz="2800" dirty="0"/>
              <a:t>Monte Carlo simulation prices a financial option by averaging the discounted payoff over many randomly simulated price paths. The method is accurate and flexible but expensive. </a:t>
            </a:r>
          </a:p>
          <a:p>
            <a:r>
              <a:rPr lang="en-US" sz="2800" dirty="0"/>
              <a:t>We price European call and put options under the Black-Scholes model. For our parameters this model has a closed-form price of 10.4506, which we use as exact ground truth. Starting from a single-threaded CPU baseline, we build three CUDA kernels: a naive version, a shared-memory reduction, and antithetic variates. A grid-stride refactor unifies all three.</a:t>
            </a:r>
          </a:p>
          <a:p>
            <a:r>
              <a:rPr lang="en-US" sz="2800" dirty="0"/>
              <a:t>Each version isolates one performance lesson. We benchmark every version against the CPU baseline, reporting the median of 5 runs, and validate each against the analytical price. The speed-ups we report are therefore full end-to-end numbers, not cherry-picked kernel timings.</a:t>
            </a:r>
          </a:p>
        </p:txBody>
      </p:sp>
      <p:sp>
        <p:nvSpPr>
          <p:cNvPr id="18" name="Rectangle 17"/>
          <p:cNvSpPr/>
          <p:nvPr/>
        </p:nvSpPr>
        <p:spPr>
          <a:xfrm>
            <a:off x="914399" y="13332723"/>
            <a:ext cx="9177338" cy="109728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25400" rIns="101600" bIns="25400" rtlCol="0" anchor="ctr"/>
          <a:lstStyle/>
          <a:p>
            <a:pPr algn="ctr"/>
            <a:r>
              <a:rPr sz="3600" b="1">
                <a:solidFill>
                  <a:srgbClr val="FFFFFF"/>
                </a:solidFill>
                <a:latin typeface="Arial"/>
              </a:rPr>
              <a:t>1 · mc_naive — one thread per path</a:t>
            </a:r>
          </a:p>
        </p:txBody>
      </p:sp>
      <p:sp>
        <p:nvSpPr>
          <p:cNvPr id="19" name="Rectangle 18"/>
          <p:cNvSpPr/>
          <p:nvPr/>
        </p:nvSpPr>
        <p:spPr>
          <a:xfrm>
            <a:off x="914399" y="14430002"/>
            <a:ext cx="9177338" cy="5945857"/>
          </a:xfrm>
          <a:prstGeom prst="rect">
            <a:avLst/>
          </a:prstGeom>
          <a:solidFill>
            <a:srgbClr val="F2F2F2"/>
          </a:solidFill>
          <a:ln w="12700">
            <a:solidFill>
              <a:srgbClr val="CF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07007" y="14726779"/>
            <a:ext cx="8595360" cy="5601533"/>
          </a:xfrm>
          <a:prstGeom prst="rect">
            <a:avLst/>
          </a:prstGeom>
          <a:noFill/>
        </p:spPr>
        <p:txBody>
          <a:bodyPr wrap="square" lIns="25400" tIns="0" rIns="25400" bIns="0">
            <a:spAutoFit/>
          </a:bodyPr>
          <a:lstStyle/>
          <a:p>
            <a:r>
              <a:rPr lang="en-US" sz="2800" dirty="0"/>
              <a:t>Each CUDA thread handles one complete price path. The thread generates a random number from its own </a:t>
            </a:r>
            <a:r>
              <a:rPr lang="en-US" sz="2800" dirty="0" err="1"/>
              <a:t>cuRAND</a:t>
            </a:r>
            <a:r>
              <a:rPr lang="en-US" sz="2800" dirty="0"/>
              <a:t> state, simulates how the stock price moves over time using geometric Brownian motion, and calculates the option payoff at the end.</a:t>
            </a:r>
          </a:p>
          <a:p>
            <a:r>
              <a:rPr lang="en-US" sz="2800" dirty="0"/>
              <a:t>The problem is how we add up the results. Every path has to update the same two values in memory using </a:t>
            </a:r>
            <a:r>
              <a:rPr lang="en-US" sz="2800" dirty="0" err="1"/>
              <a:t>atomicAdd</a:t>
            </a:r>
            <a:r>
              <a:rPr lang="en-US" sz="2800" dirty="0"/>
              <a:t>. Because all threads write to the same place, these updates happen one at a time instead of in parallel. The result: even though 94% of the GPU's threads are active, the cores sit idle ~97% of the time, and actual compute usage is only 2.75%. This is our intentionally "bad" baseline that later versions improve on.</a:t>
            </a:r>
          </a:p>
        </p:txBody>
      </p:sp>
      <p:sp>
        <p:nvSpPr>
          <p:cNvPr id="22" name="Rectangle 21"/>
          <p:cNvSpPr/>
          <p:nvPr/>
        </p:nvSpPr>
        <p:spPr>
          <a:xfrm>
            <a:off x="913755" y="20664221"/>
            <a:ext cx="9177338" cy="109728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25400" rIns="101600" bIns="25400" rtlCol="0" anchor="ctr"/>
          <a:lstStyle/>
          <a:p>
            <a:pPr algn="ctr"/>
            <a:r>
              <a:rPr sz="3600" b="1">
                <a:solidFill>
                  <a:srgbClr val="FFFFFF"/>
                </a:solidFill>
                <a:latin typeface="Arial"/>
              </a:rPr>
              <a:t>2 · mc_shared — block reduction</a:t>
            </a:r>
          </a:p>
        </p:txBody>
      </p:sp>
      <p:sp>
        <p:nvSpPr>
          <p:cNvPr id="23" name="Rectangle 22"/>
          <p:cNvSpPr/>
          <p:nvPr/>
        </p:nvSpPr>
        <p:spPr>
          <a:xfrm>
            <a:off x="913755" y="21761500"/>
            <a:ext cx="9177338" cy="10904483"/>
          </a:xfrm>
          <a:prstGeom prst="rect">
            <a:avLst/>
          </a:prstGeom>
          <a:solidFill>
            <a:srgbClr val="F2F2F2"/>
          </a:solidFill>
          <a:ln w="12700">
            <a:solidFill>
              <a:srgbClr val="CF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06363" y="22058277"/>
            <a:ext cx="8595360" cy="4739759"/>
          </a:xfrm>
          <a:prstGeom prst="rect">
            <a:avLst/>
          </a:prstGeom>
          <a:noFill/>
        </p:spPr>
        <p:txBody>
          <a:bodyPr wrap="square" lIns="25400" tIns="0" rIns="25400" bIns="0">
            <a:spAutoFit/>
          </a:bodyPr>
          <a:lstStyle/>
          <a:p>
            <a:r>
              <a:rPr lang="en-US" sz="2800" dirty="0"/>
              <a:t>Same path simulation as the naive version, but with a smarter reduction. Each thread accumulates its payoffs in a private register, then threads within a block combine their totals using warp-shuffle instructions and shared memory—so only one thread per block does a single </a:t>
            </a:r>
            <a:r>
              <a:rPr lang="en-US" sz="2800" dirty="0" err="1"/>
              <a:t>atomicAdd</a:t>
            </a:r>
            <a:r>
              <a:rPr lang="en-US" sz="2800" dirty="0"/>
              <a:t> to the global total. This cuts global atomic updates from ~2·N down to about 128 total (independent of path count), eliminating the L2 bottleneck. Compute throughput jumps to 79%.</a:t>
            </a:r>
          </a:p>
          <a:p>
            <a:br>
              <a:rPr lang="en-US" sz="2800" dirty="0"/>
            </a:br>
            <a:endParaRPr lang="en-US" sz="2800" dirty="0"/>
          </a:p>
        </p:txBody>
      </p:sp>
      <p:pic>
        <p:nvPicPr>
          <p:cNvPr id="26" name="Picture 25" descr="reduction_tree.png"/>
          <p:cNvPicPr>
            <a:picLocks noChangeAspect="1"/>
          </p:cNvPicPr>
          <p:nvPr/>
        </p:nvPicPr>
        <p:blipFill>
          <a:blip r:embed="rId5"/>
          <a:stretch>
            <a:fillRect/>
          </a:stretch>
        </p:blipFill>
        <p:spPr>
          <a:xfrm>
            <a:off x="1516285" y="26464782"/>
            <a:ext cx="7680960" cy="5569206"/>
          </a:xfrm>
          <a:prstGeom prst="rect">
            <a:avLst/>
          </a:prstGeom>
        </p:spPr>
      </p:pic>
      <p:sp>
        <p:nvSpPr>
          <p:cNvPr id="28" name="Rectangle 27"/>
          <p:cNvSpPr/>
          <p:nvPr/>
        </p:nvSpPr>
        <p:spPr>
          <a:xfrm>
            <a:off x="913755" y="33585464"/>
            <a:ext cx="9177338" cy="109728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25400" rIns="101600" bIns="25400" rtlCol="0" anchor="ctr"/>
          <a:lstStyle/>
          <a:p>
            <a:pPr algn="ctr"/>
            <a:r>
              <a:rPr sz="3400" b="1">
                <a:solidFill>
                  <a:srgbClr val="FFFFFF"/>
                </a:solidFill>
                <a:latin typeface="Arial"/>
              </a:rPr>
              <a:t>3 · mc_antithetic — variance reduction (±Z)</a:t>
            </a:r>
          </a:p>
        </p:txBody>
      </p:sp>
      <p:sp>
        <p:nvSpPr>
          <p:cNvPr id="29" name="Rectangle 28"/>
          <p:cNvSpPr/>
          <p:nvPr/>
        </p:nvSpPr>
        <p:spPr>
          <a:xfrm>
            <a:off x="913755" y="34682743"/>
            <a:ext cx="9177338" cy="6118124"/>
          </a:xfrm>
          <a:prstGeom prst="rect">
            <a:avLst/>
          </a:prstGeom>
          <a:solidFill>
            <a:srgbClr val="F2F2F2"/>
          </a:solidFill>
          <a:ln w="12700">
            <a:solidFill>
              <a:srgbClr val="CF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209601" y="34954438"/>
            <a:ext cx="8595360" cy="5170646"/>
          </a:xfrm>
          <a:prstGeom prst="rect">
            <a:avLst/>
          </a:prstGeom>
          <a:noFill/>
        </p:spPr>
        <p:txBody>
          <a:bodyPr wrap="square" lIns="25400" tIns="0" rIns="25400" bIns="0">
            <a:spAutoFit/>
          </a:bodyPr>
          <a:lstStyle/>
          <a:p>
            <a:r>
              <a:rPr lang="en-US" sz="2800" dirty="0"/>
              <a:t>This adds a variance-reduction trick on top of the shared-memory kernel. Since European payoffs move predictably with the random draw Z, each sample is paired with its mirror image, −Z, and the two payoffs are averaged into a single effective sample.</a:t>
            </a:r>
          </a:p>
          <a:p>
            <a:r>
              <a:rPr lang="en-US" sz="2800" dirty="0"/>
              <a:t>The two halves of each pair are negatively correlated, so much of the random noise cancels out. This roughly halves the variance—giving the same accuracy as nearly doubling the number of paths—for just one extra exponential calculation. And because the </a:t>
            </a:r>
            <a:r>
              <a:rPr lang="en-US" sz="2800" dirty="0" err="1"/>
              <a:t>cuRAND</a:t>
            </a:r>
            <a:r>
              <a:rPr lang="en-US" sz="2800" dirty="0"/>
              <a:t> state is read only once per pair, each effective sample is actually cheaper than in </a:t>
            </a:r>
            <a:r>
              <a:rPr lang="en-US" sz="2800" dirty="0" err="1"/>
              <a:t>mc_shared</a:t>
            </a:r>
            <a:r>
              <a:rPr lang="en-US" sz="2800" dirty="0"/>
              <a:t>.</a:t>
            </a:r>
          </a:p>
        </p:txBody>
      </p:sp>
      <p:sp>
        <p:nvSpPr>
          <p:cNvPr id="32" name="Rectangle 31"/>
          <p:cNvSpPr/>
          <p:nvPr/>
        </p:nvSpPr>
        <p:spPr>
          <a:xfrm>
            <a:off x="10442716" y="12470470"/>
            <a:ext cx="9177338" cy="109728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25400" rIns="101600" bIns="25400" rtlCol="0" anchor="ctr"/>
          <a:lstStyle/>
          <a:p>
            <a:pPr algn="ctr"/>
            <a:r>
              <a:rPr sz="3500" b="1">
                <a:solidFill>
                  <a:srgbClr val="FFFFFF"/>
                </a:solidFill>
                <a:latin typeface="Arial"/>
              </a:rPr>
              <a:t>4 · GRID-STRIDE REFACTOR  (KEY)</a:t>
            </a:r>
          </a:p>
        </p:txBody>
      </p:sp>
      <p:sp>
        <p:nvSpPr>
          <p:cNvPr id="33" name="Rectangle 32"/>
          <p:cNvSpPr/>
          <p:nvPr/>
        </p:nvSpPr>
        <p:spPr>
          <a:xfrm>
            <a:off x="10442716" y="13567750"/>
            <a:ext cx="9177338" cy="7096471"/>
          </a:xfrm>
          <a:prstGeom prst="rect">
            <a:avLst/>
          </a:prstGeom>
          <a:solidFill>
            <a:srgbClr val="F2F2F2"/>
          </a:solidFill>
          <a:ln w="12700">
            <a:solidFill>
              <a:srgbClr val="CF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738562" y="13839444"/>
            <a:ext cx="8595360" cy="3447098"/>
          </a:xfrm>
          <a:prstGeom prst="rect">
            <a:avLst/>
          </a:prstGeom>
          <a:noFill/>
        </p:spPr>
        <p:txBody>
          <a:bodyPr wrap="square" lIns="25400" tIns="0" rIns="25400" bIns="0">
            <a:spAutoFit/>
          </a:bodyPr>
          <a:lstStyle/>
          <a:p>
            <a:pPr>
              <a:spcBef>
                <a:spcPts val="200"/>
              </a:spcBef>
              <a:spcAft>
                <a:spcPts val="1000"/>
              </a:spcAft>
            </a:pPr>
            <a:r>
              <a:rPr lang="en-US" sz="2800" dirty="0"/>
              <a:t>The key change shared by all three kernels. Launching one thread per path makes the </a:t>
            </a:r>
            <a:r>
              <a:rPr lang="en-US" sz="2800" dirty="0" err="1"/>
              <a:t>cuRAND</a:t>
            </a:r>
            <a:r>
              <a:rPr lang="en-US" sz="2800" dirty="0"/>
              <a:t> state grow with N and dominate runtime. Instead, we launch a fixed 16,384-thread grid where each thread strides over many paths, reading its RNG state once and accumulating payoffs in registers. This makes RNG initialization 65× cheaper and flips the kernels from memory-bound to compute-bound—the single most important optimization here.</a:t>
            </a:r>
            <a:endParaRPr sz="2800" b="0" dirty="0">
              <a:solidFill>
                <a:srgbClr val="202020"/>
              </a:solidFill>
              <a:latin typeface="Calibri"/>
            </a:endParaRPr>
          </a:p>
        </p:txBody>
      </p:sp>
      <p:graphicFrame>
        <p:nvGraphicFramePr>
          <p:cNvPr id="36" name="Table 35"/>
          <p:cNvGraphicFramePr>
            <a:graphicFrameLocks noGrp="1"/>
          </p:cNvGraphicFramePr>
          <p:nvPr>
            <p:extLst>
              <p:ext uri="{D42A27DB-BD31-4B8C-83A1-F6EECF244321}">
                <p14:modId xmlns:p14="http://schemas.microsoft.com/office/powerpoint/2010/main" val="373699144"/>
              </p:ext>
            </p:extLst>
          </p:nvPr>
        </p:nvGraphicFramePr>
        <p:xfrm>
          <a:off x="10691596" y="17775711"/>
          <a:ext cx="8592122" cy="2286000"/>
        </p:xfrm>
        <a:graphic>
          <a:graphicData uri="http://schemas.openxmlformats.org/drawingml/2006/table">
            <a:tbl>
              <a:tblPr firstRow="1" bandRow="1">
                <a:tableStyleId>{5C22544A-7EE6-4342-B048-85BDC9FD1C3A}</a:tableStyleId>
              </a:tblPr>
              <a:tblGrid>
                <a:gridCol w="2864040">
                  <a:extLst>
                    <a:ext uri="{9D8B030D-6E8A-4147-A177-3AD203B41FA5}">
                      <a16:colId xmlns:a16="http://schemas.microsoft.com/office/drawing/2014/main" val="20000"/>
                    </a:ext>
                  </a:extLst>
                </a:gridCol>
                <a:gridCol w="2864040">
                  <a:extLst>
                    <a:ext uri="{9D8B030D-6E8A-4147-A177-3AD203B41FA5}">
                      <a16:colId xmlns:a16="http://schemas.microsoft.com/office/drawing/2014/main" val="20001"/>
                    </a:ext>
                  </a:extLst>
                </a:gridCol>
                <a:gridCol w="2864042">
                  <a:extLst>
                    <a:ext uri="{9D8B030D-6E8A-4147-A177-3AD203B41FA5}">
                      <a16:colId xmlns:a16="http://schemas.microsoft.com/office/drawing/2014/main" val="20002"/>
                    </a:ext>
                  </a:extLst>
                </a:gridCol>
              </a:tblGrid>
              <a:tr h="457200">
                <a:tc>
                  <a:txBody>
                    <a:bodyPr/>
                    <a:lstStyle/>
                    <a:p>
                      <a:pPr algn="ctr"/>
                      <a:r>
                        <a:rPr sz="2200" b="1" i="0">
                          <a:solidFill>
                            <a:srgbClr val="FFFFFF"/>
                          </a:solidFill>
                          <a:latin typeface="Calibri"/>
                        </a:rPr>
                        <a:t>Cost @ N=10⁶</a:t>
                      </a:r>
                    </a:p>
                  </a:txBody>
                  <a:tcPr marT="25400" marB="25400">
                    <a:solidFill>
                      <a:srgbClr val="44546A"/>
                    </a:solidFill>
                  </a:tcPr>
                </a:tc>
                <a:tc>
                  <a:txBody>
                    <a:bodyPr/>
                    <a:lstStyle/>
                    <a:p>
                      <a:pPr algn="ctr"/>
                      <a:r>
                        <a:rPr sz="2200" b="1" i="0">
                          <a:solidFill>
                            <a:srgbClr val="FFFFFF"/>
                          </a:solidFill>
                          <a:latin typeface="Calibri"/>
                        </a:rPr>
                        <a:t>Before</a:t>
                      </a:r>
                    </a:p>
                  </a:txBody>
                  <a:tcPr marT="25400" marB="25400">
                    <a:solidFill>
                      <a:srgbClr val="44546A"/>
                    </a:solidFill>
                  </a:tcPr>
                </a:tc>
                <a:tc>
                  <a:txBody>
                    <a:bodyPr/>
                    <a:lstStyle/>
                    <a:p>
                      <a:pPr algn="ctr"/>
                      <a:r>
                        <a:rPr sz="2200" b="1" i="0">
                          <a:solidFill>
                            <a:srgbClr val="FFFFFF"/>
                          </a:solidFill>
                          <a:latin typeface="Calibri"/>
                        </a:rPr>
                        <a:t>After (gain)</a:t>
                      </a:r>
                    </a:p>
                  </a:txBody>
                  <a:tcPr marT="25400" marB="25400">
                    <a:solidFill>
                      <a:srgbClr val="44546A"/>
                    </a:solidFill>
                  </a:tcPr>
                </a:tc>
                <a:extLst>
                  <a:ext uri="{0D108BD9-81ED-4DB2-BD59-A6C34878D82A}">
                    <a16:rowId xmlns:a16="http://schemas.microsoft.com/office/drawing/2014/main" val="10000"/>
                  </a:ext>
                </a:extLst>
              </a:tr>
              <a:tr h="457200">
                <a:tc>
                  <a:txBody>
                    <a:bodyPr/>
                    <a:lstStyle/>
                    <a:p>
                      <a:pPr algn="l"/>
                      <a:r>
                        <a:rPr sz="2100" b="1" i="0">
                          <a:solidFill>
                            <a:srgbClr val="202020"/>
                          </a:solidFill>
                          <a:latin typeface="Calibri"/>
                        </a:rPr>
                        <a:t>cuRAND states</a:t>
                      </a:r>
                    </a:p>
                  </a:txBody>
                  <a:tcPr marT="12700" marB="12700">
                    <a:solidFill>
                      <a:srgbClr val="FFFFFF"/>
                    </a:solidFill>
                  </a:tcPr>
                </a:tc>
                <a:tc>
                  <a:txBody>
                    <a:bodyPr/>
                    <a:lstStyle/>
                    <a:p>
                      <a:pPr algn="ctr"/>
                      <a:r>
                        <a:rPr sz="2100" b="0" i="0" dirty="0">
                          <a:solidFill>
                            <a:srgbClr val="202020"/>
                          </a:solidFill>
                          <a:latin typeface="Calibri"/>
                        </a:rPr>
                        <a:t>48 B × N</a:t>
                      </a:r>
                    </a:p>
                  </a:txBody>
                  <a:tcPr marT="12700" marB="12700">
                    <a:solidFill>
                      <a:srgbClr val="FFFFFF"/>
                    </a:solidFill>
                  </a:tcPr>
                </a:tc>
                <a:tc>
                  <a:txBody>
                    <a:bodyPr/>
                    <a:lstStyle/>
                    <a:p>
                      <a:pPr algn="ctr"/>
                      <a:r>
                        <a:rPr sz="2100" b="0" i="0">
                          <a:solidFill>
                            <a:srgbClr val="202020"/>
                          </a:solidFill>
                          <a:latin typeface="Calibri"/>
                        </a:rPr>
                        <a:t>48 B × 16,384</a:t>
                      </a:r>
                    </a:p>
                  </a:txBody>
                  <a:tcPr marT="12700" marB="12700">
                    <a:solidFill>
                      <a:srgbClr val="FFFFFF"/>
                    </a:solidFill>
                  </a:tcPr>
                </a:tc>
                <a:extLst>
                  <a:ext uri="{0D108BD9-81ED-4DB2-BD59-A6C34878D82A}">
                    <a16:rowId xmlns:a16="http://schemas.microsoft.com/office/drawing/2014/main" val="10001"/>
                  </a:ext>
                </a:extLst>
              </a:tr>
              <a:tr h="457200">
                <a:tc>
                  <a:txBody>
                    <a:bodyPr/>
                    <a:lstStyle/>
                    <a:p>
                      <a:pPr algn="l"/>
                      <a:r>
                        <a:rPr sz="2100" b="1" i="0">
                          <a:solidFill>
                            <a:srgbClr val="202020"/>
                          </a:solidFill>
                          <a:latin typeface="Calibri"/>
                        </a:rPr>
                        <a:t>init_rng</a:t>
                      </a:r>
                    </a:p>
                  </a:txBody>
                  <a:tcPr marT="12700" marB="12700">
                    <a:solidFill>
                      <a:srgbClr val="F2F2F2"/>
                    </a:solidFill>
                  </a:tcPr>
                </a:tc>
                <a:tc>
                  <a:txBody>
                    <a:bodyPr/>
                    <a:lstStyle/>
                    <a:p>
                      <a:pPr algn="ctr"/>
                      <a:r>
                        <a:rPr sz="2100" b="0" i="0" dirty="0">
                          <a:solidFill>
                            <a:srgbClr val="202020"/>
                          </a:solidFill>
                          <a:latin typeface="Calibri"/>
                        </a:rPr>
                        <a:t>44.6 </a:t>
                      </a:r>
                      <a:r>
                        <a:rPr sz="2100" b="0" i="0" dirty="0" err="1">
                          <a:solidFill>
                            <a:srgbClr val="202020"/>
                          </a:solidFill>
                          <a:latin typeface="Calibri"/>
                        </a:rPr>
                        <a:t>ms</a:t>
                      </a:r>
                      <a:endParaRPr sz="2100" b="0" i="0" dirty="0">
                        <a:solidFill>
                          <a:srgbClr val="202020"/>
                        </a:solidFill>
                        <a:latin typeface="Calibri"/>
                      </a:endParaRPr>
                    </a:p>
                  </a:txBody>
                  <a:tcPr marT="12700" marB="12700">
                    <a:solidFill>
                      <a:srgbClr val="F2F2F2"/>
                    </a:solidFill>
                  </a:tcPr>
                </a:tc>
                <a:tc>
                  <a:txBody>
                    <a:bodyPr/>
                    <a:lstStyle/>
                    <a:p>
                      <a:pPr algn="ctr"/>
                      <a:r>
                        <a:rPr sz="2100" b="0" i="0">
                          <a:solidFill>
                            <a:srgbClr val="202020"/>
                          </a:solidFill>
                          <a:latin typeface="Calibri"/>
                        </a:rPr>
                        <a:t>0.68 ms (65×)</a:t>
                      </a:r>
                    </a:p>
                  </a:txBody>
                  <a:tcPr marT="12700" marB="12700">
                    <a:solidFill>
                      <a:srgbClr val="F2F2F2"/>
                    </a:solidFill>
                  </a:tcPr>
                </a:tc>
                <a:extLst>
                  <a:ext uri="{0D108BD9-81ED-4DB2-BD59-A6C34878D82A}">
                    <a16:rowId xmlns:a16="http://schemas.microsoft.com/office/drawing/2014/main" val="10002"/>
                  </a:ext>
                </a:extLst>
              </a:tr>
              <a:tr h="457200">
                <a:tc>
                  <a:txBody>
                    <a:bodyPr/>
                    <a:lstStyle/>
                    <a:p>
                      <a:pPr algn="l"/>
                      <a:r>
                        <a:rPr sz="2100" b="1" i="0">
                          <a:solidFill>
                            <a:srgbClr val="202020"/>
                          </a:solidFill>
                          <a:latin typeface="Calibri"/>
                        </a:rPr>
                        <a:t>mc_shared</a:t>
                      </a:r>
                    </a:p>
                  </a:txBody>
                  <a:tcPr marT="12700" marB="12700">
                    <a:solidFill>
                      <a:srgbClr val="FFFFFF"/>
                    </a:solidFill>
                  </a:tcPr>
                </a:tc>
                <a:tc>
                  <a:txBody>
                    <a:bodyPr/>
                    <a:lstStyle/>
                    <a:p>
                      <a:pPr algn="ctr"/>
                      <a:r>
                        <a:rPr sz="2100" b="0" i="0" dirty="0">
                          <a:solidFill>
                            <a:srgbClr val="202020"/>
                          </a:solidFill>
                          <a:latin typeface="Calibri"/>
                        </a:rPr>
                        <a:t>1.06 </a:t>
                      </a:r>
                      <a:r>
                        <a:rPr sz="2100" b="0" i="0" dirty="0" err="1">
                          <a:solidFill>
                            <a:srgbClr val="202020"/>
                          </a:solidFill>
                          <a:latin typeface="Calibri"/>
                        </a:rPr>
                        <a:t>ms</a:t>
                      </a:r>
                      <a:endParaRPr sz="2100" b="0" i="0" dirty="0">
                        <a:solidFill>
                          <a:srgbClr val="202020"/>
                        </a:solidFill>
                        <a:latin typeface="Calibri"/>
                      </a:endParaRPr>
                    </a:p>
                  </a:txBody>
                  <a:tcPr marT="12700" marB="12700">
                    <a:solidFill>
                      <a:srgbClr val="FFFFFF"/>
                    </a:solidFill>
                  </a:tcPr>
                </a:tc>
                <a:tc>
                  <a:txBody>
                    <a:bodyPr/>
                    <a:lstStyle/>
                    <a:p>
                      <a:pPr algn="ctr"/>
                      <a:r>
                        <a:rPr sz="2100" b="0" i="0">
                          <a:solidFill>
                            <a:srgbClr val="202020"/>
                          </a:solidFill>
                          <a:latin typeface="Calibri"/>
                        </a:rPr>
                        <a:t>0.08 ms (13×)</a:t>
                      </a:r>
                    </a:p>
                  </a:txBody>
                  <a:tcPr marT="12700" marB="12700">
                    <a:solidFill>
                      <a:srgbClr val="FFFFFF"/>
                    </a:solidFill>
                  </a:tcPr>
                </a:tc>
                <a:extLst>
                  <a:ext uri="{0D108BD9-81ED-4DB2-BD59-A6C34878D82A}">
                    <a16:rowId xmlns:a16="http://schemas.microsoft.com/office/drawing/2014/main" val="10003"/>
                  </a:ext>
                </a:extLst>
              </a:tr>
              <a:tr h="457200">
                <a:tc>
                  <a:txBody>
                    <a:bodyPr/>
                    <a:lstStyle/>
                    <a:p>
                      <a:pPr algn="l"/>
                      <a:r>
                        <a:rPr sz="2100" b="1" i="0">
                          <a:solidFill>
                            <a:srgbClr val="202020"/>
                          </a:solidFill>
                          <a:latin typeface="Calibri"/>
                        </a:rPr>
                        <a:t>mc_antithetic</a:t>
                      </a:r>
                    </a:p>
                  </a:txBody>
                  <a:tcPr marT="12700" marB="12700">
                    <a:solidFill>
                      <a:srgbClr val="F2F2F2"/>
                    </a:solidFill>
                  </a:tcPr>
                </a:tc>
                <a:tc>
                  <a:txBody>
                    <a:bodyPr/>
                    <a:lstStyle/>
                    <a:p>
                      <a:pPr algn="ctr"/>
                      <a:r>
                        <a:rPr sz="2100" b="0" i="0" dirty="0">
                          <a:solidFill>
                            <a:srgbClr val="202020"/>
                          </a:solidFill>
                          <a:latin typeface="Calibri"/>
                        </a:rPr>
                        <a:t>0.61 </a:t>
                      </a:r>
                      <a:r>
                        <a:rPr sz="2100" b="0" i="0" dirty="0" err="1">
                          <a:solidFill>
                            <a:srgbClr val="202020"/>
                          </a:solidFill>
                          <a:latin typeface="Calibri"/>
                        </a:rPr>
                        <a:t>ms</a:t>
                      </a:r>
                      <a:endParaRPr sz="2100" b="0" i="0" dirty="0">
                        <a:solidFill>
                          <a:srgbClr val="202020"/>
                        </a:solidFill>
                        <a:latin typeface="Calibri"/>
                      </a:endParaRPr>
                    </a:p>
                  </a:txBody>
                  <a:tcPr marT="12700" marB="12700">
                    <a:solidFill>
                      <a:srgbClr val="F2F2F2"/>
                    </a:solidFill>
                  </a:tcPr>
                </a:tc>
                <a:tc>
                  <a:txBody>
                    <a:bodyPr/>
                    <a:lstStyle/>
                    <a:p>
                      <a:pPr algn="ctr"/>
                      <a:r>
                        <a:rPr sz="2100" b="0" i="0" dirty="0">
                          <a:solidFill>
                            <a:srgbClr val="202020"/>
                          </a:solidFill>
                          <a:latin typeface="Calibri"/>
                        </a:rPr>
                        <a:t>0.07 </a:t>
                      </a:r>
                      <a:r>
                        <a:rPr sz="2100" b="0" i="0" dirty="0" err="1">
                          <a:solidFill>
                            <a:srgbClr val="202020"/>
                          </a:solidFill>
                          <a:latin typeface="Calibri"/>
                        </a:rPr>
                        <a:t>ms</a:t>
                      </a:r>
                      <a:r>
                        <a:rPr sz="2100" b="0" i="0" dirty="0">
                          <a:solidFill>
                            <a:srgbClr val="202020"/>
                          </a:solidFill>
                          <a:latin typeface="Calibri"/>
                        </a:rPr>
                        <a:t> (8.7×)</a:t>
                      </a:r>
                    </a:p>
                  </a:txBody>
                  <a:tcPr marT="12700" marB="12700">
                    <a:solidFill>
                      <a:srgbClr val="F2F2F2"/>
                    </a:solidFill>
                  </a:tcPr>
                </a:tc>
                <a:extLst>
                  <a:ext uri="{0D108BD9-81ED-4DB2-BD59-A6C34878D82A}">
                    <a16:rowId xmlns:a16="http://schemas.microsoft.com/office/drawing/2014/main" val="10004"/>
                  </a:ext>
                </a:extLst>
              </a:tr>
            </a:tbl>
          </a:graphicData>
        </a:graphic>
      </p:graphicFrame>
      <p:sp>
        <p:nvSpPr>
          <p:cNvPr id="37" name="Rectangle 36"/>
          <p:cNvSpPr/>
          <p:nvPr/>
        </p:nvSpPr>
        <p:spPr>
          <a:xfrm>
            <a:off x="10442716" y="21042262"/>
            <a:ext cx="9177338" cy="109728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25400" rIns="101600" bIns="25400" rtlCol="0" anchor="ctr"/>
          <a:lstStyle/>
          <a:p>
            <a:pPr algn="ctr"/>
            <a:r>
              <a:rPr sz="3800" b="1">
                <a:solidFill>
                  <a:srgbClr val="FFFFFF"/>
                </a:solidFill>
                <a:latin typeface="Arial"/>
              </a:rPr>
              <a:t>BENCHMARK — THE RUNS</a:t>
            </a:r>
          </a:p>
        </p:txBody>
      </p:sp>
      <p:sp>
        <p:nvSpPr>
          <p:cNvPr id="38" name="Rectangle 37"/>
          <p:cNvSpPr/>
          <p:nvPr/>
        </p:nvSpPr>
        <p:spPr>
          <a:xfrm>
            <a:off x="10442716" y="22139542"/>
            <a:ext cx="9177338" cy="4128380"/>
          </a:xfrm>
          <a:prstGeom prst="rect">
            <a:avLst/>
          </a:prstGeom>
          <a:solidFill>
            <a:srgbClr val="F2F2F2"/>
          </a:solidFill>
          <a:ln w="12700">
            <a:solidFill>
              <a:srgbClr val="CF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735324" y="22377286"/>
            <a:ext cx="8592122" cy="3754874"/>
          </a:xfrm>
          <a:prstGeom prst="rect">
            <a:avLst/>
          </a:prstGeom>
          <a:noFill/>
        </p:spPr>
        <p:txBody>
          <a:bodyPr wrap="square" lIns="25400" tIns="0" rIns="25400" bIns="0">
            <a:spAutoFit/>
          </a:bodyPr>
          <a:lstStyle/>
          <a:p>
            <a:pPr algn="l">
              <a:spcBef>
                <a:spcPts val="200"/>
              </a:spcBef>
              <a:spcAft>
                <a:spcPts val="600"/>
              </a:spcAft>
            </a:pPr>
            <a:r>
              <a:rPr sz="2800" b="0" i="0" dirty="0">
                <a:solidFill>
                  <a:srgbClr val="202020"/>
                </a:solidFill>
                <a:latin typeface="Calibri"/>
              </a:rPr>
              <a:t>•  Sweep N ∈ {10⁴ … 5×10⁷}, 5 runs per size, seeds 1–5; report the median.</a:t>
            </a:r>
          </a:p>
          <a:p>
            <a:pPr algn="l">
              <a:spcBef>
                <a:spcPts val="200"/>
              </a:spcBef>
              <a:spcAft>
                <a:spcPts val="600"/>
              </a:spcAft>
            </a:pPr>
            <a:r>
              <a:rPr sz="2800" b="0" i="0" dirty="0">
                <a:solidFill>
                  <a:srgbClr val="202020"/>
                </a:solidFill>
                <a:latin typeface="Calibri"/>
              </a:rPr>
              <a:t>•  A warm-up launch precedes each batch (drops JIT / cold-cache outliers).</a:t>
            </a:r>
          </a:p>
          <a:p>
            <a:pPr algn="l">
              <a:spcBef>
                <a:spcPts val="200"/>
              </a:spcBef>
              <a:spcAft>
                <a:spcPts val="600"/>
              </a:spcAft>
            </a:pPr>
            <a:r>
              <a:rPr sz="2800" b="0" i="0" dirty="0">
                <a:solidFill>
                  <a:srgbClr val="202020"/>
                </a:solidFill>
                <a:latin typeface="Calibri"/>
              </a:rPr>
              <a:t>•  GPU timed with CUDA events; CPU with wall-clock (QPC / </a:t>
            </a:r>
            <a:r>
              <a:rPr sz="2800" b="0" i="0" dirty="0" err="1">
                <a:solidFill>
                  <a:srgbClr val="202020"/>
                </a:solidFill>
                <a:latin typeface="Calibri"/>
              </a:rPr>
              <a:t>clock_gettime</a:t>
            </a:r>
            <a:r>
              <a:rPr sz="2800" b="0" i="0" dirty="0">
                <a:solidFill>
                  <a:srgbClr val="202020"/>
                </a:solidFill>
                <a:latin typeface="Calibri"/>
              </a:rPr>
              <a:t>).</a:t>
            </a:r>
          </a:p>
          <a:p>
            <a:pPr algn="l">
              <a:spcBef>
                <a:spcPts val="200"/>
              </a:spcBef>
              <a:spcAft>
                <a:spcPts val="600"/>
              </a:spcAft>
            </a:pPr>
            <a:r>
              <a:rPr sz="2800" b="0" i="0" dirty="0">
                <a:solidFill>
                  <a:srgbClr val="202020"/>
                </a:solidFill>
                <a:latin typeface="Calibri"/>
              </a:rPr>
              <a:t>•  Every run validated against the analytical Black–Scholes price (within 4σ).</a:t>
            </a:r>
          </a:p>
        </p:txBody>
      </p:sp>
      <p:sp>
        <p:nvSpPr>
          <p:cNvPr id="40" name="Rectangle 39"/>
          <p:cNvSpPr/>
          <p:nvPr/>
        </p:nvSpPr>
        <p:spPr>
          <a:xfrm>
            <a:off x="10442716" y="26746135"/>
            <a:ext cx="9177338" cy="109728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25400" rIns="101600" bIns="25400" rtlCol="0" anchor="ctr"/>
          <a:lstStyle/>
          <a:p>
            <a:pPr algn="ctr"/>
            <a:r>
              <a:rPr sz="3300" b="1">
                <a:solidFill>
                  <a:srgbClr val="FFFFFF"/>
                </a:solidFill>
                <a:latin typeface="Arial"/>
              </a:rPr>
              <a:t>RESULTS — END-TO-END SPEED-UP</a:t>
            </a:r>
          </a:p>
        </p:txBody>
      </p:sp>
      <p:sp>
        <p:nvSpPr>
          <p:cNvPr id="41" name="Rectangle 40"/>
          <p:cNvSpPr/>
          <p:nvPr/>
        </p:nvSpPr>
        <p:spPr>
          <a:xfrm>
            <a:off x="10442716" y="27889076"/>
            <a:ext cx="9177338" cy="5890259"/>
          </a:xfrm>
          <a:prstGeom prst="rect">
            <a:avLst/>
          </a:prstGeom>
          <a:solidFill>
            <a:srgbClr val="F2F2F2"/>
          </a:solidFill>
          <a:ln w="12700">
            <a:solidFill>
              <a:srgbClr val="CF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fig_speedup_endtoend.png"/>
          <p:cNvPicPr>
            <a:picLocks noChangeAspect="1"/>
          </p:cNvPicPr>
          <p:nvPr/>
        </p:nvPicPr>
        <p:blipFill>
          <a:blip r:embed="rId6"/>
          <a:stretch>
            <a:fillRect/>
          </a:stretch>
        </p:blipFill>
        <p:spPr>
          <a:xfrm>
            <a:off x="10735324" y="28081159"/>
            <a:ext cx="8592122" cy="5429984"/>
          </a:xfrm>
          <a:prstGeom prst="rect">
            <a:avLst/>
          </a:prstGeom>
        </p:spPr>
      </p:pic>
      <p:sp>
        <p:nvSpPr>
          <p:cNvPr id="46" name="Rectangle 45"/>
          <p:cNvSpPr/>
          <p:nvPr/>
        </p:nvSpPr>
        <p:spPr>
          <a:xfrm>
            <a:off x="10548936" y="35291663"/>
            <a:ext cx="8877443" cy="5843400"/>
          </a:xfrm>
          <a:prstGeom prst="rect">
            <a:avLst/>
          </a:prstGeom>
          <a:solidFill>
            <a:srgbClr val="F2F2F2"/>
          </a:solidFill>
          <a:ln w="12700">
            <a:solidFill>
              <a:srgbClr val="CF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20056475" y="12470470"/>
            <a:ext cx="9177338" cy="109728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25400" rIns="101600" bIns="25400" rtlCol="0" anchor="ctr"/>
          <a:lstStyle/>
          <a:p>
            <a:pPr algn="ctr"/>
            <a:r>
              <a:rPr sz="3300" b="1" dirty="0">
                <a:solidFill>
                  <a:srgbClr val="FFFFFF"/>
                </a:solidFill>
                <a:latin typeface="Arial"/>
              </a:rPr>
              <a:t>VALIDATION </a:t>
            </a:r>
          </a:p>
        </p:txBody>
      </p:sp>
      <p:sp>
        <p:nvSpPr>
          <p:cNvPr id="50" name="Rectangle 49"/>
          <p:cNvSpPr/>
          <p:nvPr/>
        </p:nvSpPr>
        <p:spPr>
          <a:xfrm>
            <a:off x="20056475" y="13567750"/>
            <a:ext cx="9177338" cy="9271615"/>
          </a:xfrm>
          <a:prstGeom prst="rect">
            <a:avLst/>
          </a:prstGeom>
          <a:solidFill>
            <a:srgbClr val="F2F2F2"/>
          </a:solidFill>
          <a:ln w="12700">
            <a:solidFill>
              <a:srgbClr val="CF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fig_convergence.png"/>
          <p:cNvPicPr>
            <a:picLocks noChangeAspect="1"/>
          </p:cNvPicPr>
          <p:nvPr/>
        </p:nvPicPr>
        <p:blipFill>
          <a:blip r:embed="rId7"/>
          <a:stretch>
            <a:fillRect/>
          </a:stretch>
        </p:blipFill>
        <p:spPr>
          <a:xfrm>
            <a:off x="20349083" y="13805494"/>
            <a:ext cx="8592122" cy="5915767"/>
          </a:xfrm>
          <a:prstGeom prst="rect">
            <a:avLst/>
          </a:prstGeom>
        </p:spPr>
      </p:pic>
      <p:sp>
        <p:nvSpPr>
          <p:cNvPr id="52" name="TextBox 51"/>
          <p:cNvSpPr txBox="1"/>
          <p:nvPr/>
        </p:nvSpPr>
        <p:spPr>
          <a:xfrm>
            <a:off x="20349083" y="19766981"/>
            <a:ext cx="8592122" cy="457200"/>
          </a:xfrm>
          <a:prstGeom prst="rect">
            <a:avLst/>
          </a:prstGeom>
          <a:noFill/>
        </p:spPr>
        <p:txBody>
          <a:bodyPr wrap="square" tIns="0" bIns="0">
            <a:spAutoFit/>
          </a:bodyPr>
          <a:lstStyle/>
          <a:p>
            <a:pPr algn="ctr"/>
            <a:r>
              <a:rPr sz="1800" b="0" i="1">
                <a:solidFill>
                  <a:srgbClr val="555555"/>
                </a:solidFill>
                <a:latin typeface="Calibri"/>
              </a:rPr>
              <a:t>Absolute error vs N with a 0.5/√N reference; antithetic sits below it.</a:t>
            </a:r>
          </a:p>
        </p:txBody>
      </p:sp>
      <p:graphicFrame>
        <p:nvGraphicFramePr>
          <p:cNvPr id="53" name="Table 52"/>
          <p:cNvGraphicFramePr>
            <a:graphicFrameLocks noGrp="1"/>
          </p:cNvGraphicFramePr>
          <p:nvPr>
            <p:extLst>
              <p:ext uri="{D42A27DB-BD31-4B8C-83A1-F6EECF244321}">
                <p14:modId xmlns:p14="http://schemas.microsoft.com/office/powerpoint/2010/main" val="273492187"/>
              </p:ext>
            </p:extLst>
          </p:nvPr>
        </p:nvGraphicFramePr>
        <p:xfrm>
          <a:off x="20349083" y="20288189"/>
          <a:ext cx="8592122" cy="2286000"/>
        </p:xfrm>
        <a:graphic>
          <a:graphicData uri="http://schemas.openxmlformats.org/drawingml/2006/table">
            <a:tbl>
              <a:tblPr firstRow="1" bandRow="1">
                <a:tableStyleId>{5C22544A-7EE6-4342-B048-85BDC9FD1C3A}</a:tableStyleId>
              </a:tblPr>
              <a:tblGrid>
                <a:gridCol w="2148030">
                  <a:extLst>
                    <a:ext uri="{9D8B030D-6E8A-4147-A177-3AD203B41FA5}">
                      <a16:colId xmlns:a16="http://schemas.microsoft.com/office/drawing/2014/main" val="20000"/>
                    </a:ext>
                  </a:extLst>
                </a:gridCol>
                <a:gridCol w="2148030">
                  <a:extLst>
                    <a:ext uri="{9D8B030D-6E8A-4147-A177-3AD203B41FA5}">
                      <a16:colId xmlns:a16="http://schemas.microsoft.com/office/drawing/2014/main" val="20001"/>
                    </a:ext>
                  </a:extLst>
                </a:gridCol>
                <a:gridCol w="2148030">
                  <a:extLst>
                    <a:ext uri="{9D8B030D-6E8A-4147-A177-3AD203B41FA5}">
                      <a16:colId xmlns:a16="http://schemas.microsoft.com/office/drawing/2014/main" val="20002"/>
                    </a:ext>
                  </a:extLst>
                </a:gridCol>
                <a:gridCol w="2148032">
                  <a:extLst>
                    <a:ext uri="{9D8B030D-6E8A-4147-A177-3AD203B41FA5}">
                      <a16:colId xmlns:a16="http://schemas.microsoft.com/office/drawing/2014/main" val="20003"/>
                    </a:ext>
                  </a:extLst>
                </a:gridCol>
              </a:tblGrid>
              <a:tr h="457200">
                <a:tc>
                  <a:txBody>
                    <a:bodyPr/>
                    <a:lstStyle/>
                    <a:p>
                      <a:pPr algn="ctr"/>
                      <a:r>
                        <a:rPr sz="2200" b="1" i="0">
                          <a:solidFill>
                            <a:srgbClr val="FFFFFF"/>
                          </a:solidFill>
                          <a:latin typeface="Calibri"/>
                        </a:rPr>
                        <a:t>Impl. (N=10⁶)</a:t>
                      </a:r>
                    </a:p>
                  </a:txBody>
                  <a:tcPr marT="25400" marB="25400">
                    <a:solidFill>
                      <a:srgbClr val="44546A"/>
                    </a:solidFill>
                  </a:tcPr>
                </a:tc>
                <a:tc>
                  <a:txBody>
                    <a:bodyPr/>
                    <a:lstStyle/>
                    <a:p>
                      <a:pPr algn="ctr"/>
                      <a:r>
                        <a:rPr sz="2200" b="1" i="0">
                          <a:solidFill>
                            <a:srgbClr val="FFFFFF"/>
                          </a:solidFill>
                          <a:latin typeface="Calibri"/>
                        </a:rPr>
                        <a:t>Estimate</a:t>
                      </a:r>
                    </a:p>
                  </a:txBody>
                  <a:tcPr marT="25400" marB="25400">
                    <a:solidFill>
                      <a:srgbClr val="44546A"/>
                    </a:solidFill>
                  </a:tcPr>
                </a:tc>
                <a:tc>
                  <a:txBody>
                    <a:bodyPr/>
                    <a:lstStyle/>
                    <a:p>
                      <a:pPr algn="ctr"/>
                      <a:r>
                        <a:rPr sz="2200" b="1" i="0">
                          <a:solidFill>
                            <a:srgbClr val="FFFFFF"/>
                          </a:solidFill>
                          <a:latin typeface="Calibri"/>
                        </a:rPr>
                        <a:t>Abs err</a:t>
                      </a:r>
                    </a:p>
                  </a:txBody>
                  <a:tcPr marT="25400" marB="25400">
                    <a:solidFill>
                      <a:srgbClr val="44546A"/>
                    </a:solidFill>
                  </a:tcPr>
                </a:tc>
                <a:tc>
                  <a:txBody>
                    <a:bodyPr/>
                    <a:lstStyle/>
                    <a:p>
                      <a:pPr algn="ctr"/>
                      <a:r>
                        <a:rPr sz="2200" b="1" i="0">
                          <a:solidFill>
                            <a:srgbClr val="FFFFFF"/>
                          </a:solidFill>
                          <a:latin typeface="Calibri"/>
                        </a:rPr>
                        <a:t>σ</a:t>
                      </a:r>
                    </a:p>
                  </a:txBody>
                  <a:tcPr marT="25400" marB="25400">
                    <a:solidFill>
                      <a:srgbClr val="44546A"/>
                    </a:solidFill>
                  </a:tcPr>
                </a:tc>
                <a:extLst>
                  <a:ext uri="{0D108BD9-81ED-4DB2-BD59-A6C34878D82A}">
                    <a16:rowId xmlns:a16="http://schemas.microsoft.com/office/drawing/2014/main" val="10000"/>
                  </a:ext>
                </a:extLst>
              </a:tr>
              <a:tr h="457200">
                <a:tc>
                  <a:txBody>
                    <a:bodyPr/>
                    <a:lstStyle/>
                    <a:p>
                      <a:pPr algn="l"/>
                      <a:r>
                        <a:rPr sz="2100" b="1" i="0">
                          <a:solidFill>
                            <a:srgbClr val="202020"/>
                          </a:solidFill>
                          <a:latin typeface="Calibri"/>
                        </a:rPr>
                        <a:t>mc_cpu</a:t>
                      </a:r>
                    </a:p>
                  </a:txBody>
                  <a:tcPr marT="12700" marB="12700">
                    <a:solidFill>
                      <a:srgbClr val="FFFFFF"/>
                    </a:solidFill>
                  </a:tcPr>
                </a:tc>
                <a:tc>
                  <a:txBody>
                    <a:bodyPr/>
                    <a:lstStyle/>
                    <a:p>
                      <a:pPr algn="ctr"/>
                      <a:r>
                        <a:rPr sz="2100" b="0" i="0">
                          <a:solidFill>
                            <a:srgbClr val="202020"/>
                          </a:solidFill>
                          <a:latin typeface="Calibri"/>
                        </a:rPr>
                        <a:t>10.4501</a:t>
                      </a:r>
                    </a:p>
                  </a:txBody>
                  <a:tcPr marT="12700" marB="12700">
                    <a:solidFill>
                      <a:srgbClr val="FFFFFF"/>
                    </a:solidFill>
                  </a:tcPr>
                </a:tc>
                <a:tc>
                  <a:txBody>
                    <a:bodyPr/>
                    <a:lstStyle/>
                    <a:p>
                      <a:pPr algn="ctr"/>
                      <a:r>
                        <a:rPr sz="2100" b="0" i="0">
                          <a:solidFill>
                            <a:srgbClr val="202020"/>
                          </a:solidFill>
                          <a:latin typeface="Calibri"/>
                        </a:rPr>
                        <a:t>0.0005</a:t>
                      </a:r>
                    </a:p>
                  </a:txBody>
                  <a:tcPr marT="12700" marB="12700">
                    <a:solidFill>
                      <a:srgbClr val="FFFFFF"/>
                    </a:solidFill>
                  </a:tcPr>
                </a:tc>
                <a:tc>
                  <a:txBody>
                    <a:bodyPr/>
                    <a:lstStyle/>
                    <a:p>
                      <a:pPr algn="ctr"/>
                      <a:r>
                        <a:rPr sz="2100" b="0" i="0">
                          <a:solidFill>
                            <a:srgbClr val="202020"/>
                          </a:solidFill>
                          <a:latin typeface="Calibri"/>
                        </a:rPr>
                        <a:t>0.0</a:t>
                      </a:r>
                    </a:p>
                  </a:txBody>
                  <a:tcPr marT="12700" marB="12700">
                    <a:solidFill>
                      <a:srgbClr val="FFFFFF"/>
                    </a:solidFill>
                  </a:tcPr>
                </a:tc>
                <a:extLst>
                  <a:ext uri="{0D108BD9-81ED-4DB2-BD59-A6C34878D82A}">
                    <a16:rowId xmlns:a16="http://schemas.microsoft.com/office/drawing/2014/main" val="10001"/>
                  </a:ext>
                </a:extLst>
              </a:tr>
              <a:tr h="457200">
                <a:tc>
                  <a:txBody>
                    <a:bodyPr/>
                    <a:lstStyle/>
                    <a:p>
                      <a:pPr algn="l"/>
                      <a:r>
                        <a:rPr sz="2100" b="1" i="0">
                          <a:solidFill>
                            <a:srgbClr val="202020"/>
                          </a:solidFill>
                          <a:latin typeface="Calibri"/>
                        </a:rPr>
                        <a:t>mc_naive</a:t>
                      </a:r>
                    </a:p>
                  </a:txBody>
                  <a:tcPr marT="12700" marB="12700">
                    <a:solidFill>
                      <a:srgbClr val="F2F2F2"/>
                    </a:solidFill>
                  </a:tcPr>
                </a:tc>
                <a:tc>
                  <a:txBody>
                    <a:bodyPr/>
                    <a:lstStyle/>
                    <a:p>
                      <a:pPr algn="ctr"/>
                      <a:r>
                        <a:rPr sz="2100" b="0" i="0">
                          <a:solidFill>
                            <a:srgbClr val="202020"/>
                          </a:solidFill>
                          <a:latin typeface="Calibri"/>
                        </a:rPr>
                        <a:t>10.4718</a:t>
                      </a:r>
                    </a:p>
                  </a:txBody>
                  <a:tcPr marT="12700" marB="12700">
                    <a:solidFill>
                      <a:srgbClr val="F2F2F2"/>
                    </a:solidFill>
                  </a:tcPr>
                </a:tc>
                <a:tc>
                  <a:txBody>
                    <a:bodyPr/>
                    <a:lstStyle/>
                    <a:p>
                      <a:pPr algn="ctr"/>
                      <a:r>
                        <a:rPr sz="2100" b="0" i="0">
                          <a:solidFill>
                            <a:srgbClr val="202020"/>
                          </a:solidFill>
                          <a:latin typeface="Calibri"/>
                        </a:rPr>
                        <a:t>0.0212</a:t>
                      </a:r>
                    </a:p>
                  </a:txBody>
                  <a:tcPr marT="12700" marB="12700">
                    <a:solidFill>
                      <a:srgbClr val="F2F2F2"/>
                    </a:solidFill>
                  </a:tcPr>
                </a:tc>
                <a:tc>
                  <a:txBody>
                    <a:bodyPr/>
                    <a:lstStyle/>
                    <a:p>
                      <a:pPr algn="ctr"/>
                      <a:r>
                        <a:rPr sz="2100" b="0" i="0">
                          <a:solidFill>
                            <a:srgbClr val="202020"/>
                          </a:solidFill>
                          <a:latin typeface="Calibri"/>
                        </a:rPr>
                        <a:t>1.4</a:t>
                      </a:r>
                    </a:p>
                  </a:txBody>
                  <a:tcPr marT="12700" marB="12700">
                    <a:solidFill>
                      <a:srgbClr val="F2F2F2"/>
                    </a:solidFill>
                  </a:tcPr>
                </a:tc>
                <a:extLst>
                  <a:ext uri="{0D108BD9-81ED-4DB2-BD59-A6C34878D82A}">
                    <a16:rowId xmlns:a16="http://schemas.microsoft.com/office/drawing/2014/main" val="10002"/>
                  </a:ext>
                </a:extLst>
              </a:tr>
              <a:tr h="457200">
                <a:tc>
                  <a:txBody>
                    <a:bodyPr/>
                    <a:lstStyle/>
                    <a:p>
                      <a:pPr algn="l"/>
                      <a:r>
                        <a:rPr sz="2100" b="1" i="0">
                          <a:solidFill>
                            <a:srgbClr val="202020"/>
                          </a:solidFill>
                          <a:latin typeface="Calibri"/>
                        </a:rPr>
                        <a:t>mc_shared</a:t>
                      </a:r>
                    </a:p>
                  </a:txBody>
                  <a:tcPr marT="12700" marB="12700">
                    <a:solidFill>
                      <a:srgbClr val="FFFFFF"/>
                    </a:solidFill>
                  </a:tcPr>
                </a:tc>
                <a:tc>
                  <a:txBody>
                    <a:bodyPr/>
                    <a:lstStyle/>
                    <a:p>
                      <a:pPr algn="ctr"/>
                      <a:r>
                        <a:rPr sz="2100" b="0" i="0">
                          <a:solidFill>
                            <a:srgbClr val="202020"/>
                          </a:solidFill>
                          <a:latin typeface="Calibri"/>
                        </a:rPr>
                        <a:t>10.4719</a:t>
                      </a:r>
                    </a:p>
                  </a:txBody>
                  <a:tcPr marT="12700" marB="12700">
                    <a:solidFill>
                      <a:srgbClr val="FFFFFF"/>
                    </a:solidFill>
                  </a:tcPr>
                </a:tc>
                <a:tc>
                  <a:txBody>
                    <a:bodyPr/>
                    <a:lstStyle/>
                    <a:p>
                      <a:pPr algn="ctr"/>
                      <a:r>
                        <a:rPr sz="2100" b="0" i="0">
                          <a:solidFill>
                            <a:srgbClr val="202020"/>
                          </a:solidFill>
                          <a:latin typeface="Calibri"/>
                        </a:rPr>
                        <a:t>0.0213</a:t>
                      </a:r>
                    </a:p>
                  </a:txBody>
                  <a:tcPr marT="12700" marB="12700">
                    <a:solidFill>
                      <a:srgbClr val="FFFFFF"/>
                    </a:solidFill>
                  </a:tcPr>
                </a:tc>
                <a:tc>
                  <a:txBody>
                    <a:bodyPr/>
                    <a:lstStyle/>
                    <a:p>
                      <a:pPr algn="ctr"/>
                      <a:r>
                        <a:rPr sz="2100" b="0" i="0">
                          <a:solidFill>
                            <a:srgbClr val="202020"/>
                          </a:solidFill>
                          <a:latin typeface="Calibri"/>
                        </a:rPr>
                        <a:t>1.4</a:t>
                      </a:r>
                    </a:p>
                  </a:txBody>
                  <a:tcPr marT="12700" marB="12700">
                    <a:solidFill>
                      <a:srgbClr val="FFFFFF"/>
                    </a:solidFill>
                  </a:tcPr>
                </a:tc>
                <a:extLst>
                  <a:ext uri="{0D108BD9-81ED-4DB2-BD59-A6C34878D82A}">
                    <a16:rowId xmlns:a16="http://schemas.microsoft.com/office/drawing/2014/main" val="10003"/>
                  </a:ext>
                </a:extLst>
              </a:tr>
              <a:tr h="457200">
                <a:tc>
                  <a:txBody>
                    <a:bodyPr/>
                    <a:lstStyle/>
                    <a:p>
                      <a:pPr algn="l"/>
                      <a:r>
                        <a:rPr sz="2100" b="1" i="0">
                          <a:solidFill>
                            <a:srgbClr val="202020"/>
                          </a:solidFill>
                          <a:latin typeface="Calibri"/>
                        </a:rPr>
                        <a:t>mc_antithetic</a:t>
                      </a:r>
                    </a:p>
                  </a:txBody>
                  <a:tcPr marT="12700" marB="12700">
                    <a:solidFill>
                      <a:srgbClr val="F2F2F2"/>
                    </a:solidFill>
                  </a:tcPr>
                </a:tc>
                <a:tc>
                  <a:txBody>
                    <a:bodyPr/>
                    <a:lstStyle/>
                    <a:p>
                      <a:pPr algn="ctr"/>
                      <a:r>
                        <a:rPr sz="2100" b="0" i="0">
                          <a:solidFill>
                            <a:srgbClr val="202020"/>
                          </a:solidFill>
                          <a:latin typeface="Calibri"/>
                        </a:rPr>
                        <a:t>10.4593</a:t>
                      </a:r>
                    </a:p>
                  </a:txBody>
                  <a:tcPr marT="12700" marB="12700">
                    <a:solidFill>
                      <a:srgbClr val="F2F2F2"/>
                    </a:solidFill>
                  </a:tcPr>
                </a:tc>
                <a:tc>
                  <a:txBody>
                    <a:bodyPr/>
                    <a:lstStyle/>
                    <a:p>
                      <a:pPr algn="ctr"/>
                      <a:r>
                        <a:rPr sz="2100" b="0" i="0">
                          <a:solidFill>
                            <a:srgbClr val="202020"/>
                          </a:solidFill>
                          <a:latin typeface="Calibri"/>
                        </a:rPr>
                        <a:t>0.0088</a:t>
                      </a:r>
                    </a:p>
                  </a:txBody>
                  <a:tcPr marT="12700" marB="12700">
                    <a:solidFill>
                      <a:srgbClr val="F2F2F2"/>
                    </a:solidFill>
                  </a:tcPr>
                </a:tc>
                <a:tc>
                  <a:txBody>
                    <a:bodyPr/>
                    <a:lstStyle/>
                    <a:p>
                      <a:pPr algn="ctr"/>
                      <a:r>
                        <a:rPr sz="2100" b="0" i="0">
                          <a:solidFill>
                            <a:srgbClr val="202020"/>
                          </a:solidFill>
                          <a:latin typeface="Calibri"/>
                        </a:rPr>
                        <a:t>0.8</a:t>
                      </a:r>
                    </a:p>
                  </a:txBody>
                  <a:tcPr marT="12700" marB="12700">
                    <a:solidFill>
                      <a:srgbClr val="F2F2F2"/>
                    </a:solidFill>
                  </a:tcPr>
                </a:tc>
                <a:extLst>
                  <a:ext uri="{0D108BD9-81ED-4DB2-BD59-A6C34878D82A}">
                    <a16:rowId xmlns:a16="http://schemas.microsoft.com/office/drawing/2014/main" val="10004"/>
                  </a:ext>
                </a:extLst>
              </a:tr>
            </a:tbl>
          </a:graphicData>
        </a:graphic>
      </p:graphicFrame>
      <p:sp>
        <p:nvSpPr>
          <p:cNvPr id="54" name="Rectangle 53"/>
          <p:cNvSpPr/>
          <p:nvPr/>
        </p:nvSpPr>
        <p:spPr>
          <a:xfrm>
            <a:off x="20056475" y="23708045"/>
            <a:ext cx="9177338" cy="109728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25400" rIns="101600" bIns="25400" rtlCol="0" anchor="ctr"/>
          <a:lstStyle/>
          <a:p>
            <a:pPr algn="ctr"/>
            <a:r>
              <a:rPr sz="3800" b="1">
                <a:solidFill>
                  <a:srgbClr val="FFFFFF"/>
                </a:solidFill>
                <a:latin typeface="Arial"/>
              </a:rPr>
              <a:t>CONCLUSIONS</a:t>
            </a:r>
          </a:p>
        </p:txBody>
      </p:sp>
      <p:sp>
        <p:nvSpPr>
          <p:cNvPr id="55" name="Rectangle 54"/>
          <p:cNvSpPr/>
          <p:nvPr/>
        </p:nvSpPr>
        <p:spPr>
          <a:xfrm>
            <a:off x="20056475" y="24805325"/>
            <a:ext cx="9177338" cy="6292742"/>
          </a:xfrm>
          <a:prstGeom prst="rect">
            <a:avLst/>
          </a:prstGeom>
          <a:solidFill>
            <a:srgbClr val="F2F2F2"/>
          </a:solidFill>
          <a:ln w="12700">
            <a:solidFill>
              <a:srgbClr val="CF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0349083" y="25043069"/>
            <a:ext cx="8592122" cy="5516895"/>
          </a:xfrm>
          <a:prstGeom prst="rect">
            <a:avLst/>
          </a:prstGeom>
          <a:noFill/>
        </p:spPr>
        <p:txBody>
          <a:bodyPr wrap="square" lIns="25400" tIns="0" rIns="25400" bIns="0">
            <a:spAutoFit/>
          </a:bodyPr>
          <a:lstStyle/>
          <a:p>
            <a:pPr algn="l">
              <a:spcBef>
                <a:spcPts val="200"/>
              </a:spcBef>
              <a:spcAft>
                <a:spcPts val="700"/>
              </a:spcAft>
            </a:pPr>
            <a:r>
              <a:rPr sz="2800" b="0" i="0" dirty="0">
                <a:solidFill>
                  <a:srgbClr val="202020"/>
                </a:solidFill>
                <a:latin typeface="Calibri"/>
              </a:rPr>
              <a:t>•  Each kernel isolates one lesson: atomic contention (naive) → hierarchical reduction (shared) → variance reduction (antithetic).</a:t>
            </a:r>
          </a:p>
          <a:p>
            <a:pPr algn="l">
              <a:spcBef>
                <a:spcPts val="200"/>
              </a:spcBef>
              <a:spcAft>
                <a:spcPts val="700"/>
              </a:spcAft>
            </a:pPr>
            <a:r>
              <a:rPr sz="2800" b="0" i="0" dirty="0">
                <a:solidFill>
                  <a:srgbClr val="202020"/>
                </a:solidFill>
                <a:latin typeface="Calibri"/>
              </a:rPr>
              <a:t>•  The grid-stride refactor is the key change: state O(N)→O(threads), </a:t>
            </a:r>
            <a:r>
              <a:rPr sz="2800" b="0" i="0" dirty="0" err="1">
                <a:solidFill>
                  <a:srgbClr val="202020"/>
                </a:solidFill>
                <a:latin typeface="Calibri"/>
              </a:rPr>
              <a:t>init</a:t>
            </a:r>
            <a:r>
              <a:rPr sz="2800" b="0" i="0" dirty="0">
                <a:solidFill>
                  <a:srgbClr val="202020"/>
                </a:solidFill>
                <a:latin typeface="Calibri"/>
              </a:rPr>
              <a:t> 65× faster, optimized kernel 13× faster, memory-bound → compute-bound.</a:t>
            </a:r>
          </a:p>
          <a:p>
            <a:pPr algn="l">
              <a:spcBef>
                <a:spcPts val="200"/>
              </a:spcBef>
              <a:spcAft>
                <a:spcPts val="700"/>
              </a:spcAft>
            </a:pPr>
            <a:r>
              <a:rPr sz="2800" b="0" i="0" dirty="0">
                <a:solidFill>
                  <a:srgbClr val="202020"/>
                </a:solidFill>
                <a:latin typeface="Calibri"/>
              </a:rPr>
              <a:t>•  Honest end-to-end speed-up ≈382× at 10⁷ paths (≈980× at 5×10⁷) — past the 200× goal; kernel-only reaches ≈1650×.</a:t>
            </a:r>
          </a:p>
          <a:p>
            <a:pPr algn="l">
              <a:spcBef>
                <a:spcPts val="200"/>
              </a:spcBef>
              <a:spcAft>
                <a:spcPts val="700"/>
              </a:spcAft>
            </a:pPr>
            <a:r>
              <a:rPr sz="2800" b="0" i="0" dirty="0">
                <a:solidFill>
                  <a:srgbClr val="202020"/>
                </a:solidFill>
                <a:latin typeface="Calibri"/>
              </a:rPr>
              <a:t>•  All kernels validate within 1σ of Black–Scholes; optimized kernels run at 76–79% of the GTX 1650 FP32 peak.</a:t>
            </a:r>
          </a:p>
        </p:txBody>
      </p:sp>
      <p:sp>
        <p:nvSpPr>
          <p:cNvPr id="57" name="Rectangle 56"/>
          <p:cNvSpPr/>
          <p:nvPr/>
        </p:nvSpPr>
        <p:spPr>
          <a:xfrm>
            <a:off x="20056475" y="31855213"/>
            <a:ext cx="9177338" cy="86868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25400" rIns="101600" bIns="25400" rtlCol="0" anchor="ctr"/>
          <a:lstStyle/>
          <a:p>
            <a:pPr algn="ctr"/>
            <a:r>
              <a:rPr sz="3000" b="1">
                <a:solidFill>
                  <a:srgbClr val="FFFFFF"/>
                </a:solidFill>
                <a:latin typeface="Arial"/>
              </a:rPr>
              <a:t>CONFIGURATION &amp; REFERENCES</a:t>
            </a:r>
          </a:p>
        </p:txBody>
      </p:sp>
      <p:sp>
        <p:nvSpPr>
          <p:cNvPr id="58" name="Rectangle 57"/>
          <p:cNvSpPr/>
          <p:nvPr/>
        </p:nvSpPr>
        <p:spPr>
          <a:xfrm>
            <a:off x="20056475" y="32723893"/>
            <a:ext cx="9177338" cy="4834240"/>
          </a:xfrm>
          <a:prstGeom prst="rect">
            <a:avLst/>
          </a:prstGeom>
          <a:solidFill>
            <a:srgbClr val="F2F2F2"/>
          </a:solidFill>
          <a:ln w="12700">
            <a:solidFill>
              <a:srgbClr val="CF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0349083" y="32961637"/>
            <a:ext cx="8592122" cy="4083169"/>
          </a:xfrm>
          <a:prstGeom prst="rect">
            <a:avLst/>
          </a:prstGeom>
          <a:noFill/>
        </p:spPr>
        <p:txBody>
          <a:bodyPr wrap="square" lIns="25400" tIns="0" rIns="25400" bIns="0">
            <a:spAutoFit/>
          </a:bodyPr>
          <a:lstStyle/>
          <a:p>
            <a:pPr algn="l">
              <a:spcBef>
                <a:spcPts val="200"/>
              </a:spcBef>
              <a:spcAft>
                <a:spcPts val="800"/>
              </a:spcAft>
            </a:pPr>
            <a:r>
              <a:rPr sz="2800" b="0" dirty="0">
                <a:solidFill>
                  <a:srgbClr val="202020"/>
                </a:solidFill>
                <a:latin typeface="Calibri"/>
              </a:rPr>
              <a:t>GPU: NVIDIA GTX 1650 (Turing TU117, sm_75, 16 SM, 4 GB GDDR5, 1.39 GHz, 128 GB/s).   CPU: AMD Ryzen 7 5800H (single-thread ≈ 30 M paths/s).   OS: Windows 11.</a:t>
            </a:r>
          </a:p>
          <a:p>
            <a:pPr>
              <a:spcAft>
                <a:spcPts val="800"/>
              </a:spcAft>
            </a:pPr>
            <a:r>
              <a:rPr sz="2800" b="0" dirty="0">
                <a:solidFill>
                  <a:srgbClr val="202020"/>
                </a:solidFill>
                <a:latin typeface="Calibri"/>
              </a:rPr>
              <a:t>Toolchain: CUDA 12.4, </a:t>
            </a:r>
            <a:r>
              <a:rPr sz="2800" b="0" dirty="0" err="1">
                <a:solidFill>
                  <a:srgbClr val="202020"/>
                </a:solidFill>
                <a:latin typeface="Calibri"/>
              </a:rPr>
              <a:t>nvcc</a:t>
            </a:r>
            <a:r>
              <a:rPr sz="2800" b="0" dirty="0">
                <a:solidFill>
                  <a:srgbClr val="202020"/>
                </a:solidFill>
                <a:latin typeface="Calibri"/>
              </a:rPr>
              <a:t> (host MSVC 19.42), FP32, </a:t>
            </a:r>
            <a:r>
              <a:rPr sz="2800" b="0" dirty="0" err="1">
                <a:solidFill>
                  <a:srgbClr val="202020"/>
                </a:solidFill>
                <a:latin typeface="Calibri"/>
              </a:rPr>
              <a:t>cuRAND</a:t>
            </a:r>
            <a:r>
              <a:rPr sz="2800" b="0" dirty="0">
                <a:solidFill>
                  <a:srgbClr val="202020"/>
                </a:solidFill>
                <a:latin typeface="Calibri"/>
              </a:rPr>
              <a:t> XORWOW.   Build flags: -O3 -arch=sm_75 -</a:t>
            </a:r>
            <a:r>
              <a:rPr sz="2800" b="0" dirty="0" err="1">
                <a:solidFill>
                  <a:srgbClr val="202020"/>
                </a:solidFill>
                <a:latin typeface="Calibri"/>
              </a:rPr>
              <a:t>lineinfo</a:t>
            </a:r>
            <a:r>
              <a:rPr sz="2800" b="0" dirty="0">
                <a:solidFill>
                  <a:srgbClr val="202020"/>
                </a:solidFill>
                <a:latin typeface="Calibri"/>
              </a:rPr>
              <a:t> -std=</a:t>
            </a:r>
            <a:r>
              <a:rPr sz="2800" b="0" dirty="0" err="1">
                <a:solidFill>
                  <a:srgbClr val="202020"/>
                </a:solidFill>
                <a:latin typeface="Calibri"/>
              </a:rPr>
              <a:t>c++</a:t>
            </a:r>
            <a:r>
              <a:rPr sz="2800" b="0" dirty="0">
                <a:solidFill>
                  <a:srgbClr val="202020"/>
                </a:solidFill>
                <a:latin typeface="Calibri"/>
              </a:rPr>
              <a:t>14.</a:t>
            </a:r>
          </a:p>
          <a:p>
            <a:pPr>
              <a:spcAft>
                <a:spcPts val="800"/>
              </a:spcAft>
            </a:pPr>
            <a:r>
              <a:rPr sz="2800" b="0" dirty="0">
                <a:solidFill>
                  <a:srgbClr val="202020"/>
                </a:solidFill>
                <a:latin typeface="Calibri"/>
              </a:rPr>
              <a:t>Refs: Black &amp; Scholes (1973) · </a:t>
            </a:r>
            <a:r>
              <a:rPr sz="2800" b="0" dirty="0" err="1">
                <a:solidFill>
                  <a:srgbClr val="202020"/>
                </a:solidFill>
                <a:latin typeface="Calibri"/>
              </a:rPr>
              <a:t>Glasserman</a:t>
            </a:r>
            <a:r>
              <a:rPr sz="2800" b="0" dirty="0">
                <a:solidFill>
                  <a:srgbClr val="202020"/>
                </a:solidFill>
                <a:latin typeface="Calibri"/>
              </a:rPr>
              <a:t> (2003) · Williams et al., Roofline (CACM 2009) · NVIDIA </a:t>
            </a:r>
            <a:r>
              <a:rPr sz="2800" b="0" dirty="0" err="1">
                <a:solidFill>
                  <a:srgbClr val="202020"/>
                </a:solidFill>
                <a:latin typeface="Calibri"/>
              </a:rPr>
              <a:t>cuRAND</a:t>
            </a:r>
            <a:r>
              <a:rPr sz="2800" b="0" dirty="0">
                <a:solidFill>
                  <a:srgbClr val="202020"/>
                </a:solidFill>
                <a:latin typeface="Calibri"/>
              </a:rPr>
              <a:t> &amp; Nsight Compute guides.</a:t>
            </a:r>
          </a:p>
        </p:txBody>
      </p:sp>
      <p:sp>
        <p:nvSpPr>
          <p:cNvPr id="16" name="Rectangle 15"/>
          <p:cNvSpPr/>
          <p:nvPr/>
        </p:nvSpPr>
        <p:spPr>
          <a:xfrm>
            <a:off x="10442716" y="34194383"/>
            <a:ext cx="9177338" cy="109728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25400" rIns="101600" bIns="25400" rtlCol="0" anchor="ctr"/>
          <a:lstStyle/>
          <a:p>
            <a:pPr algn="ctr"/>
            <a:r>
              <a:rPr sz="3700" b="1">
                <a:solidFill>
                  <a:srgbClr val="FFFFFF"/>
                </a:solidFill>
                <a:latin typeface="Arial"/>
              </a:rPr>
              <a:t>RESULTS — THROUGHPUT</a:t>
            </a:r>
          </a:p>
        </p:txBody>
      </p:sp>
      <p:pic>
        <p:nvPicPr>
          <p:cNvPr id="17" name="Picture 16" descr="fig_throughput.png"/>
          <p:cNvPicPr>
            <a:picLocks noChangeAspect="1"/>
          </p:cNvPicPr>
          <p:nvPr/>
        </p:nvPicPr>
        <p:blipFill>
          <a:blip r:embed="rId8"/>
          <a:stretch>
            <a:fillRect/>
          </a:stretch>
        </p:blipFill>
        <p:spPr>
          <a:xfrm>
            <a:off x="10921591" y="35529407"/>
            <a:ext cx="7607322" cy="5384360"/>
          </a:xfrm>
          <a:prstGeom prst="rect">
            <a:avLst/>
          </a:prstGeom>
        </p:spPr>
      </p:pic>
      <p:sp>
        <p:nvSpPr>
          <p:cNvPr id="20" name="TextBox 19"/>
          <p:cNvSpPr txBox="1"/>
          <p:nvPr/>
        </p:nvSpPr>
        <p:spPr>
          <a:xfrm>
            <a:off x="10841545" y="43396652"/>
            <a:ext cx="8592122" cy="553998"/>
          </a:xfrm>
          <a:prstGeom prst="rect">
            <a:avLst/>
          </a:prstGeom>
          <a:noFill/>
        </p:spPr>
        <p:txBody>
          <a:bodyPr wrap="square" tIns="0" bIns="0">
            <a:spAutoFit/>
          </a:bodyPr>
          <a:lstStyle/>
          <a:p>
            <a:pPr algn="ctr"/>
            <a:r>
              <a:rPr sz="1800" b="0" i="1" dirty="0">
                <a:solidFill>
                  <a:srgbClr val="555555"/>
                </a:solidFill>
                <a:latin typeface="Calibri"/>
              </a:rPr>
              <a:t>Throughput vs N (log–log). CPU ≈30 M/s; </a:t>
            </a:r>
            <a:r>
              <a:rPr sz="1800" b="0" i="1" dirty="0" err="1">
                <a:solidFill>
                  <a:srgbClr val="555555"/>
                </a:solidFill>
                <a:latin typeface="Calibri"/>
              </a:rPr>
              <a:t>mc_naive</a:t>
            </a:r>
            <a:r>
              <a:rPr sz="1800" b="0" i="1" dirty="0">
                <a:solidFill>
                  <a:srgbClr val="555555"/>
                </a:solidFill>
                <a:latin typeface="Calibri"/>
              </a:rPr>
              <a:t> saturates at ≈415 M/s (atomic bus); </a:t>
            </a:r>
            <a:r>
              <a:rPr sz="1800" b="0" i="1" dirty="0" err="1">
                <a:solidFill>
                  <a:srgbClr val="555555"/>
                </a:solidFill>
                <a:latin typeface="Calibri"/>
              </a:rPr>
              <a:t>optimizedkernels</a:t>
            </a:r>
            <a:r>
              <a:rPr sz="1800" b="0" i="1" dirty="0">
                <a:solidFill>
                  <a:srgbClr val="555555"/>
                </a:solidFill>
                <a:latin typeface="Calibri"/>
              </a:rPr>
              <a:t> reach tens of G paths/s.</a:t>
            </a:r>
          </a:p>
        </p:txBody>
      </p:sp>
    </p:spTree>
    <p:extLst>
      <p:ext uri="{BB962C8B-B14F-4D97-AF65-F5344CB8AC3E}">
        <p14:creationId xmlns:p14="http://schemas.microsoft.com/office/powerpoint/2010/main" val="110594435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653</TotalTime>
  <Words>1133</Words>
  <Application>Microsoft Office PowerPoint</Application>
  <PresentationFormat>Özel</PresentationFormat>
  <Paragraphs>76</Paragraphs>
  <Slides>1</Slides>
  <Notes>1</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vt:i4>
      </vt:variant>
    </vt:vector>
  </HeadingPairs>
  <TitlesOfParts>
    <vt:vector size="5" baseType="lpstr">
      <vt:lpstr>Arial</vt:lpstr>
      <vt:lpstr>Calibri</vt:lpstr>
      <vt:lpstr>Calibri Light</vt:lpstr>
      <vt:lpstr>Office 2013 - 2022 Theme</vt:lpstr>
      <vt:lpstr>PowerPoint Sunusu</vt:lpstr>
    </vt:vector>
  </TitlesOfParts>
  <Company>SIU School of Medicine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Lydia Howes</dc:creator>
  <cp:lastModifiedBy>talha sarlık</cp:lastModifiedBy>
  <cp:revision>54</cp:revision>
  <dcterms:created xsi:type="dcterms:W3CDTF">2017-09-05T20:02:28Z</dcterms:created>
  <dcterms:modified xsi:type="dcterms:W3CDTF">2026-06-10T23:01:35Z</dcterms:modified>
</cp:coreProperties>
</file>